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embeddedFontLst>
    <p:embeddedFont>
      <p:font typeface="IBM Plex Sans"/>
      <p:regular r:id="rId15"/>
      <p:bold r:id="rId16"/>
      <p:italic r:id="rId17"/>
      <p:boldItalic r:id="rId18"/>
    </p:embeddedFont>
    <p:embeddedFont>
      <p:font typeface="Source Serif 4"/>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e7s88r5/tnGtghc0dOuLVA25i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ourceSerif4-bold.fntdata"/><Relationship Id="rId11" Type="http://schemas.openxmlformats.org/officeDocument/2006/relationships/slide" Target="slides/slide7.xml"/><Relationship Id="rId22" Type="http://schemas.openxmlformats.org/officeDocument/2006/relationships/font" Target="fonts/SourceSerif4-boldItalic.fntdata"/><Relationship Id="rId10" Type="http://schemas.openxmlformats.org/officeDocument/2006/relationships/slide" Target="slides/slide6.xml"/><Relationship Id="rId21" Type="http://schemas.openxmlformats.org/officeDocument/2006/relationships/font" Target="fonts/SourceSerif4-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IBMPlexSans-regular.fntdata"/><Relationship Id="rId14" Type="http://schemas.openxmlformats.org/officeDocument/2006/relationships/slide" Target="slides/slide10.xml"/><Relationship Id="rId17" Type="http://schemas.openxmlformats.org/officeDocument/2006/relationships/font" Target="fonts/IBMPlexSans-italic.fntdata"/><Relationship Id="rId16" Type="http://schemas.openxmlformats.org/officeDocument/2006/relationships/font" Target="fonts/IBMPlexSans-bold.fntdata"/><Relationship Id="rId5" Type="http://schemas.openxmlformats.org/officeDocument/2006/relationships/slide" Target="slides/slide1.xml"/><Relationship Id="rId19" Type="http://schemas.openxmlformats.org/officeDocument/2006/relationships/font" Target="fonts/SourceSerif4-regular.fntdata"/><Relationship Id="rId6" Type="http://schemas.openxmlformats.org/officeDocument/2006/relationships/slide" Target="slides/slide2.xml"/><Relationship Id="rId18" Type="http://schemas.openxmlformats.org/officeDocument/2006/relationships/font" Target="fonts/IBMPlexSa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Font typeface="Times New Roman"/>
              <a:buNone/>
              <a:defRPr b="0" i="0" sz="1400" u="none" cap="none" strike="noStrike">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400" u="none" cap="none" strike="noStrike">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SzPts val="1400"/>
              <a:buFont typeface="Times New Roman"/>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1: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10 s. Sou Matheus Beuren Carvalho e vou apresentar a segmentação semântica de lesões em folhas de arroz com U-Net.</a:t>
            </a:r>
            <a:endParaRPr b="0" sz="2000" strike="noStrike">
              <a:latin typeface="Arial"/>
              <a:ea typeface="Arial"/>
              <a:cs typeface="Arial"/>
              <a:sym typeface="Arial"/>
            </a:endParaRPr>
          </a:p>
        </p:txBody>
      </p:sp>
      <p:sp>
        <p:nvSpPr>
          <p:cNvPr id="63" name="Google Shape;63;p1: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2: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50 s. Doenças da folha como Bacterialblight, Blast, Brownspot e Tungro ameaçam a produção de arroz e hoje são identificadas a olho nu por especialistas. Sethy et al. (2020) classificaram a folha inteira com ResNet50 e SVM e chegaram a um F1 de 0,98, mas a classificação só diz qual é a doença, como na linha de cima, sem mostrar onde está a lesão nem quanto da folha foi atingida. A solução é a segmentação semântica, que dá a máscara da linha de baixo e marca a lesão pixel a pixel. Isso é possível porque a base RiceSeg-5932 trouxe máscaras manuais para as 5.932 imagens de Sethy et al.</a:t>
            </a:r>
            <a:endParaRPr b="0" sz="2000" strike="noStrike">
              <a:latin typeface="Arial"/>
              <a:ea typeface="Arial"/>
              <a:cs typeface="Arial"/>
              <a:sym typeface="Arial"/>
            </a:endParaRPr>
          </a:p>
        </p:txBody>
      </p:sp>
      <p:sp>
        <p:nvSpPr>
          <p:cNvPr id="70" name="Google Shape;70;p2: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3: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45 s. O treino usa uma base só, formada pelas 5.932 imagens de campo de Sethy et al. (2020) com as máscaras manuais da RiceSeg-5932, que marcam a lesão pixel a pixel nas mesmas imagens. Ela foi dividida de forma estratificada em 4.745 imagens para treino e 1.187 para validação. O teste externo usa a base Multi-Class, de Hasan et al., com 2.623 imagens das quatro doenças em comum e só o rótulo da imagem. Tudo foi redimensionado para 288×288, com as classes 0 a 3 para as doenças e a classe 4 para o fundo. As imagens mostram o sintoma típico de cada doença. A Bacterialblight forma faixas amareladas ao longo das margens da folha, o Blast forma lesões em losango com centro acinzentado e borda marrom, o Brownspot forma várias manchas ovais marrons pequenas, parecidas com grão de gergelim, e o Tungro deixa as folhas amarelo-alaranjadas.</a:t>
            </a:r>
            <a:endParaRPr b="0" sz="2000" strike="noStrike">
              <a:latin typeface="Arial"/>
              <a:ea typeface="Arial"/>
              <a:cs typeface="Arial"/>
              <a:sym typeface="Arial"/>
            </a:endParaRPr>
          </a:p>
        </p:txBody>
      </p:sp>
      <p:sp>
        <p:nvSpPr>
          <p:cNvPr id="90" name="Google Shape;90;p3: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4: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45 s. A U-Net tem um encoder que reduz a imagem e extrai as características, um decoder que recria a máscara e skip connections que devolvem os detalhes das bordas. A figura é a arquitetura original de Ronneberger, Fischer e Brox (2015), em tons de cinza. Além da U-Net sem pré-treino, o encoder foi trocado por ResNet50, ResNet101 e EfficientNetB0 pré-treinados na ImageNet, com os pesos treináveis. Cada arquitetura foi treinada com as duas losses, e uma ResNet101 com decoder maior completa os nove modelos.</a:t>
            </a:r>
            <a:endParaRPr b="0" sz="2000" strike="noStrike">
              <a:latin typeface="Arial"/>
              <a:ea typeface="Arial"/>
              <a:cs typeface="Arial"/>
              <a:sym typeface="Arial"/>
            </a:endParaRPr>
          </a:p>
        </p:txBody>
      </p:sp>
      <p:sp>
        <p:nvSpPr>
          <p:cNvPr id="114" name="Google Shape;114;p4: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5: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50 s. Imaginem que a caixa verde da caneta é a máscara real e a vermelha a prevista. O IoU divide a área onde as duas se cobrem pela área que as duas cobrem juntas, e o Dice usa duas vezes essa interseção dividida pela soma das áreas. Na validação existe a máscara real, então o IoU e o Dice são calculados para cada doença e a média considera só as quatro doenças, para o fundo não dominar o resultado. No teste externo só existe o rótulo da imagem, e a doença prevista é a que teve mais pixels na máscara, comparada pela acurácia e pelo F1 macro. Cada arquitetura foi treinada com SparseCategoricalCrossEntropy e com Dice e SparseCategoricalCrossEntropy, sempre com Adam, batch de 16 e até 50 épocas.</a:t>
            </a:r>
            <a:endParaRPr b="0" sz="2000" strike="noStrike">
              <a:latin typeface="Arial"/>
              <a:ea typeface="Arial"/>
              <a:cs typeface="Arial"/>
              <a:sym typeface="Arial"/>
            </a:endParaRPr>
          </a:p>
        </p:txBody>
      </p:sp>
      <p:sp>
        <p:nvSpPr>
          <p:cNvPr id="124" name="Google Shape;124;p5: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6: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50 s. Na validação todos os modelos ficaram com IoU médio entre 0,71 e 0,73 e Dice médio entre 0,83 e 0,85, uma diferença de no máximo 0,02, e por isso a validação não separa os modelos. No teste externo o desempenho caiu e variou muito, com acurácia de 0,44 a 0,59 e F1 macro de 0,47 a 0,62. O melhor foi a ResNet50 com SparseCategoricalCrossEntropy, em negrito, com acurácia de 0,59 e F1 macro de 0,62. A soma do Dice não teve efeito consistente e o decoder maior da ResNet101 mudou pouco o resultado.</a:t>
            </a:r>
            <a:endParaRPr b="0" sz="2000" strike="noStrike">
              <a:latin typeface="Arial"/>
              <a:ea typeface="Arial"/>
              <a:cs typeface="Arial"/>
              <a:sym typeface="Arial"/>
            </a:endParaRPr>
          </a:p>
        </p:txBody>
      </p:sp>
      <p:sp>
        <p:nvSpPr>
          <p:cNvPr id="135" name="Google Shape;135;p6: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7: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45 s. Esta é a matriz de confusão da ResNet50 com SparseCategoricalCrossEntropy, o melhor modelo no teste externo. As linhas são a doença real e as colunas a doença prevista, e cada coluna está normalizada, então a diagonal mostra a precision de cada doença. O Brownspot tem a maior precision, 0,83, seguido do Tungro, 0,78, e da Bacterialblight, 0,70. O Blast tem a menor, 0,34, porque das imagens previstas como Blast 0,31 eram Bacterialblight e 0,28 eram Brownspot. Ou seja, o modelo usa o Blast como destino das lesões que ele não reconhece bem. Nos tópicos estão os resultados gerais do modelo no teste externo, com acurácia de 0,59, F1 macro de 0,62, precision macro de 0,66 e recall macro de 0,61.</a:t>
            </a:r>
            <a:endParaRPr b="0" sz="2000" strike="noStrike">
              <a:latin typeface="Arial"/>
              <a:ea typeface="Arial"/>
              <a:cs typeface="Arial"/>
              <a:sym typeface="Arial"/>
            </a:endParaRPr>
          </a:p>
        </p:txBody>
      </p:sp>
      <p:sp>
        <p:nvSpPr>
          <p:cNvPr id="221" name="Google Shape;221;p7: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8: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35 s. Nos modelos com encoder pré-treinado houve overfitting, com o IoU de treino bem acima do de validação, como 0,85 contra 0,77 na ResNet101. Isso está ligado ao tamanho da base, com 4.745 pares de imagem e máscara no treino, pequena para encoders grandes, sem data augmentation e testando só a U-Net com três encoders. O teste externo tem apenas o rótulo da imagem, por isso o Dice e o IoU só foram calculados na validação. Como trabalhos futuros ficam aplicar data augmentation, repetir os treinos com parâmetros diferentes, testar arquiteturas de segmentação mais atuais e avaliar os modelos em uma base que tenha máscara.</a:t>
            </a:r>
            <a:endParaRPr b="0" sz="2000" strike="noStrike">
              <a:latin typeface="Arial"/>
              <a:ea typeface="Arial"/>
              <a:cs typeface="Arial"/>
              <a:sym typeface="Arial"/>
            </a:endParaRPr>
          </a:p>
        </p:txBody>
      </p:sp>
      <p:sp>
        <p:nvSpPr>
          <p:cNvPr id="228" name="Google Shape;228;p8: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9: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9: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30 s. Entre os encoders, a ResNet50 com SparseCategoricalCrossEntropy foi a que melhor generalizou, com acurácia de 0,59 e F1 macro de 0,62 no teste externo, e um encoder maior como a ResNet101 não trouxe ganho. Somar o Dice à SparseCategoricalCrossEntropy melhorou alguns modelos e piorou outros, sem um padrão. O decoder maior da ResNet101 mudou pouco o resultado, então ele não era a limitação. Na validação todos passaram de 0,70, mas no teste externo a acurácia caiu para no máximo 0,59, abaixo da meta de 0,75. Obrigado.</a:t>
            </a:r>
            <a:endParaRPr b="0" sz="2000" strike="noStrike">
              <a:latin typeface="Arial"/>
              <a:ea typeface="Arial"/>
              <a:cs typeface="Arial"/>
              <a:sym typeface="Arial"/>
            </a:endParaRPr>
          </a:p>
        </p:txBody>
      </p:sp>
      <p:sp>
        <p:nvSpPr>
          <p:cNvPr id="237" name="Google Shape;237;p9: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p:nvPr>
            <p:ph idx="2" type="sldImg"/>
          </p:nvPr>
        </p:nvSpPr>
        <p:spPr>
          <a:xfrm>
            <a:off x="685800" y="1143000"/>
            <a:ext cx="5486040" cy="308592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0:notes"/>
          <p:cNvSpPr txBox="1"/>
          <p:nvPr>
            <p:ph idx="1" type="body"/>
          </p:nvPr>
        </p:nvSpPr>
        <p:spPr>
          <a:xfrm>
            <a:off x="685800" y="4400640"/>
            <a:ext cx="5486040" cy="3600000"/>
          </a:xfrm>
          <a:prstGeom prst="rect">
            <a:avLst/>
          </a:prstGeom>
          <a:noFill/>
          <a:ln>
            <a:noFill/>
          </a:ln>
        </p:spPr>
        <p:txBody>
          <a:bodyPr anchorCtr="0" anchor="t" bIns="0" lIns="0" spcFirstLastPara="1" rIns="0" wrap="square" tIns="0">
            <a:noAutofit/>
          </a:bodyPr>
          <a:lstStyle/>
          <a:p>
            <a:pPr indent="-216000" lvl="0" marL="216000" rtl="0" algn="l">
              <a:lnSpc>
                <a:spcPct val="100000"/>
              </a:lnSpc>
              <a:spcBef>
                <a:spcPts val="0"/>
              </a:spcBef>
              <a:spcAft>
                <a:spcPts val="0"/>
              </a:spcAft>
              <a:buSzPts val="2000"/>
              <a:buFont typeface="Arial"/>
              <a:buNone/>
            </a:pPr>
            <a:r>
              <a:rPr b="0" lang="en-US" sz="2000" strike="noStrike">
                <a:latin typeface="Arial"/>
                <a:ea typeface="Arial"/>
                <a:cs typeface="Arial"/>
                <a:sym typeface="Arial"/>
              </a:rPr>
              <a:t>Tempo estimado: 5 s. Estas são as referências dos artigos e das bases de dados usadas no trabalho.</a:t>
            </a:r>
            <a:endParaRPr b="0" sz="2000" strike="noStrike">
              <a:latin typeface="Arial"/>
              <a:ea typeface="Arial"/>
              <a:cs typeface="Arial"/>
              <a:sym typeface="Arial"/>
            </a:endParaRPr>
          </a:p>
        </p:txBody>
      </p:sp>
      <p:sp>
        <p:nvSpPr>
          <p:cNvPr id="245" name="Google Shape;245;p10:notes"/>
          <p:cNvSpPr txBox="1"/>
          <p:nvPr>
            <p:ph idx="12" type="sldNum"/>
          </p:nvPr>
        </p:nvSpPr>
        <p:spPr>
          <a:xfrm>
            <a:off x="3884760" y="8685360"/>
            <a:ext cx="2971440" cy="45828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13"/>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3"/>
          <p:cNvSpPr txBox="1"/>
          <p:nvPr>
            <p:ph idx="1" type="subTitle"/>
          </p:nvPr>
        </p:nvSpPr>
        <p:spPr>
          <a:xfrm>
            <a:off x="812880" y="1620360"/>
            <a:ext cx="10566000" cy="44244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 name="Shape 16"/>
        <p:cNvGrpSpPr/>
        <p:nvPr/>
      </p:nvGrpSpPr>
      <p:grpSpPr>
        <a:xfrm>
          <a:off x="0" y="0"/>
          <a:ext cx="0" cy="0"/>
          <a:chOff x="0" y="0"/>
          <a:chExt cx="0" cy="0"/>
        </a:xfrm>
      </p:grpSpPr>
      <p:sp>
        <p:nvSpPr>
          <p:cNvPr id="17" name="Google Shape;17;p14"/>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4"/>
          <p:cNvSpPr txBox="1"/>
          <p:nvPr>
            <p:ph idx="1" type="body"/>
          </p:nvPr>
        </p:nvSpPr>
        <p:spPr>
          <a:xfrm>
            <a:off x="812880" y="1620360"/>
            <a:ext cx="10566000" cy="44244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 name="Shape 19"/>
        <p:cNvGrpSpPr/>
        <p:nvPr/>
      </p:nvGrpSpPr>
      <p:grpSpPr>
        <a:xfrm>
          <a:off x="0" y="0"/>
          <a:ext cx="0" cy="0"/>
          <a:chOff x="0" y="0"/>
          <a:chExt cx="0" cy="0"/>
        </a:xfrm>
      </p:grpSpPr>
      <p:sp>
        <p:nvSpPr>
          <p:cNvPr id="20" name="Google Shape;20;p15"/>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 type="body"/>
          </p:nvPr>
        </p:nvSpPr>
        <p:spPr>
          <a:xfrm>
            <a:off x="812880" y="1620360"/>
            <a:ext cx="5155920" cy="44244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15"/>
          <p:cNvSpPr txBox="1"/>
          <p:nvPr>
            <p:ph idx="2" type="body"/>
          </p:nvPr>
        </p:nvSpPr>
        <p:spPr>
          <a:xfrm>
            <a:off x="6226920" y="1620360"/>
            <a:ext cx="5155920" cy="44244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16"/>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 name="Shape 25"/>
        <p:cNvGrpSpPr/>
        <p:nvPr/>
      </p:nvGrpSpPr>
      <p:grpSpPr>
        <a:xfrm>
          <a:off x="0" y="0"/>
          <a:ext cx="0" cy="0"/>
          <a:chOff x="0" y="0"/>
          <a:chExt cx="0" cy="0"/>
        </a:xfrm>
      </p:grpSpPr>
      <p:sp>
        <p:nvSpPr>
          <p:cNvPr id="26" name="Google Shape;26;p17"/>
          <p:cNvSpPr txBox="1"/>
          <p:nvPr>
            <p:ph idx="1" type="subTitle"/>
          </p:nvPr>
        </p:nvSpPr>
        <p:spPr>
          <a:xfrm>
            <a:off x="812880" y="812880"/>
            <a:ext cx="10566000" cy="23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 name="Shape 27"/>
        <p:cNvGrpSpPr/>
        <p:nvPr/>
      </p:nvGrpSpPr>
      <p:grpSpPr>
        <a:xfrm>
          <a:off x="0" y="0"/>
          <a:ext cx="0" cy="0"/>
          <a:chOff x="0" y="0"/>
          <a:chExt cx="0" cy="0"/>
        </a:xfrm>
      </p:grpSpPr>
      <p:sp>
        <p:nvSpPr>
          <p:cNvPr id="28" name="Google Shape;28;p18"/>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8"/>
          <p:cNvSpPr txBox="1"/>
          <p:nvPr>
            <p:ph idx="1" type="body"/>
          </p:nvPr>
        </p:nvSpPr>
        <p:spPr>
          <a:xfrm>
            <a:off x="812880" y="16203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18"/>
          <p:cNvSpPr txBox="1"/>
          <p:nvPr>
            <p:ph idx="2" type="body"/>
          </p:nvPr>
        </p:nvSpPr>
        <p:spPr>
          <a:xfrm>
            <a:off x="6226920" y="1620360"/>
            <a:ext cx="5155920" cy="44244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18"/>
          <p:cNvSpPr txBox="1"/>
          <p:nvPr>
            <p:ph idx="3" type="body"/>
          </p:nvPr>
        </p:nvSpPr>
        <p:spPr>
          <a:xfrm>
            <a:off x="812880" y="39315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9"/>
          <p:cNvSpPr txBox="1"/>
          <p:nvPr>
            <p:ph idx="1" type="body"/>
          </p:nvPr>
        </p:nvSpPr>
        <p:spPr>
          <a:xfrm>
            <a:off x="812880" y="1620360"/>
            <a:ext cx="5155920" cy="44244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19"/>
          <p:cNvSpPr txBox="1"/>
          <p:nvPr>
            <p:ph idx="2" type="body"/>
          </p:nvPr>
        </p:nvSpPr>
        <p:spPr>
          <a:xfrm>
            <a:off x="6226920" y="16203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19"/>
          <p:cNvSpPr txBox="1"/>
          <p:nvPr>
            <p:ph idx="3" type="body"/>
          </p:nvPr>
        </p:nvSpPr>
        <p:spPr>
          <a:xfrm>
            <a:off x="6226920" y="39315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 name="Shape 37"/>
        <p:cNvGrpSpPr/>
        <p:nvPr/>
      </p:nvGrpSpPr>
      <p:grpSpPr>
        <a:xfrm>
          <a:off x="0" y="0"/>
          <a:ext cx="0" cy="0"/>
          <a:chOff x="0" y="0"/>
          <a:chExt cx="0" cy="0"/>
        </a:xfrm>
      </p:grpSpPr>
      <p:sp>
        <p:nvSpPr>
          <p:cNvPr id="38" name="Google Shape;38;p20"/>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 type="body"/>
          </p:nvPr>
        </p:nvSpPr>
        <p:spPr>
          <a:xfrm>
            <a:off x="812880" y="16203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20"/>
          <p:cNvSpPr txBox="1"/>
          <p:nvPr>
            <p:ph idx="2" type="body"/>
          </p:nvPr>
        </p:nvSpPr>
        <p:spPr>
          <a:xfrm>
            <a:off x="6226920" y="16203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20"/>
          <p:cNvSpPr txBox="1"/>
          <p:nvPr>
            <p:ph idx="3" type="body"/>
          </p:nvPr>
        </p:nvSpPr>
        <p:spPr>
          <a:xfrm>
            <a:off x="812880" y="3931560"/>
            <a:ext cx="10566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2" name="Shape 42"/>
        <p:cNvGrpSpPr/>
        <p:nvPr/>
      </p:nvGrpSpPr>
      <p:grpSpPr>
        <a:xfrm>
          <a:off x="0" y="0"/>
          <a:ext cx="0" cy="0"/>
          <a:chOff x="0" y="0"/>
          <a:chExt cx="0" cy="0"/>
        </a:xfrm>
      </p:grpSpPr>
      <p:sp>
        <p:nvSpPr>
          <p:cNvPr id="43" name="Google Shape;43;p21"/>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1"/>
          <p:cNvSpPr txBox="1"/>
          <p:nvPr>
            <p:ph idx="1" type="body"/>
          </p:nvPr>
        </p:nvSpPr>
        <p:spPr>
          <a:xfrm>
            <a:off x="812880" y="1620360"/>
            <a:ext cx="10566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21"/>
          <p:cNvSpPr txBox="1"/>
          <p:nvPr>
            <p:ph idx="2" type="body"/>
          </p:nvPr>
        </p:nvSpPr>
        <p:spPr>
          <a:xfrm>
            <a:off x="812880" y="3931560"/>
            <a:ext cx="10566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6" name="Shape 46"/>
        <p:cNvGrpSpPr/>
        <p:nvPr/>
      </p:nvGrpSpPr>
      <p:grpSpPr>
        <a:xfrm>
          <a:off x="0" y="0"/>
          <a:ext cx="0" cy="0"/>
          <a:chOff x="0" y="0"/>
          <a:chExt cx="0" cy="0"/>
        </a:xfrm>
      </p:grpSpPr>
      <p:sp>
        <p:nvSpPr>
          <p:cNvPr id="47" name="Google Shape;47;p22"/>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 type="body"/>
          </p:nvPr>
        </p:nvSpPr>
        <p:spPr>
          <a:xfrm>
            <a:off x="812880" y="16203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22"/>
          <p:cNvSpPr txBox="1"/>
          <p:nvPr>
            <p:ph idx="2" type="body"/>
          </p:nvPr>
        </p:nvSpPr>
        <p:spPr>
          <a:xfrm>
            <a:off x="6226920" y="16203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22"/>
          <p:cNvSpPr txBox="1"/>
          <p:nvPr>
            <p:ph idx="3" type="body"/>
          </p:nvPr>
        </p:nvSpPr>
        <p:spPr>
          <a:xfrm>
            <a:off x="812880" y="39315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22"/>
          <p:cNvSpPr txBox="1"/>
          <p:nvPr>
            <p:ph idx="4" type="body"/>
          </p:nvPr>
        </p:nvSpPr>
        <p:spPr>
          <a:xfrm>
            <a:off x="6226920" y="3931560"/>
            <a:ext cx="515592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2" name="Shape 52"/>
        <p:cNvGrpSpPr/>
        <p:nvPr/>
      </p:nvGrpSpPr>
      <p:grpSpPr>
        <a:xfrm>
          <a:off x="0" y="0"/>
          <a:ext cx="0" cy="0"/>
          <a:chOff x="0" y="0"/>
          <a:chExt cx="0" cy="0"/>
        </a:xfrm>
      </p:grpSpPr>
      <p:sp>
        <p:nvSpPr>
          <p:cNvPr id="53" name="Google Shape;53;p23"/>
          <p:cNvSpPr txBox="1"/>
          <p:nvPr>
            <p:ph type="title"/>
          </p:nvPr>
        </p:nvSpPr>
        <p:spPr>
          <a:xfrm>
            <a:off x="812880" y="812880"/>
            <a:ext cx="10566000" cy="5025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3"/>
          <p:cNvSpPr txBox="1"/>
          <p:nvPr>
            <p:ph idx="1" type="body"/>
          </p:nvPr>
        </p:nvSpPr>
        <p:spPr>
          <a:xfrm>
            <a:off x="812880" y="1620360"/>
            <a:ext cx="3402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23"/>
          <p:cNvSpPr txBox="1"/>
          <p:nvPr>
            <p:ph idx="2" type="body"/>
          </p:nvPr>
        </p:nvSpPr>
        <p:spPr>
          <a:xfrm>
            <a:off x="4385520" y="1620360"/>
            <a:ext cx="3402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23"/>
          <p:cNvSpPr txBox="1"/>
          <p:nvPr>
            <p:ph idx="3" type="body"/>
          </p:nvPr>
        </p:nvSpPr>
        <p:spPr>
          <a:xfrm>
            <a:off x="7957800" y="1620360"/>
            <a:ext cx="3402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23"/>
          <p:cNvSpPr txBox="1"/>
          <p:nvPr>
            <p:ph idx="4" type="body"/>
          </p:nvPr>
        </p:nvSpPr>
        <p:spPr>
          <a:xfrm>
            <a:off x="812880" y="3931560"/>
            <a:ext cx="3402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23"/>
          <p:cNvSpPr txBox="1"/>
          <p:nvPr>
            <p:ph idx="5" type="body"/>
          </p:nvPr>
        </p:nvSpPr>
        <p:spPr>
          <a:xfrm>
            <a:off x="4385520" y="3931560"/>
            <a:ext cx="3402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23"/>
          <p:cNvSpPr txBox="1"/>
          <p:nvPr>
            <p:ph idx="6" type="body"/>
          </p:nvPr>
        </p:nvSpPr>
        <p:spPr>
          <a:xfrm>
            <a:off x="7957800" y="3931560"/>
            <a:ext cx="3402000" cy="2110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12880" y="812880"/>
            <a:ext cx="10566000" cy="50256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1"/>
          <p:cNvSpPr txBox="1"/>
          <p:nvPr>
            <p:ph idx="1" type="body"/>
          </p:nvPr>
        </p:nvSpPr>
        <p:spPr>
          <a:xfrm>
            <a:off x="812880" y="1620360"/>
            <a:ext cx="10566000" cy="44244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jpg"/><Relationship Id="rId6"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
          <p:cNvSpPr txBox="1"/>
          <p:nvPr>
            <p:ph idx="4294967295" type="title"/>
          </p:nvPr>
        </p:nvSpPr>
        <p:spPr>
          <a:xfrm>
            <a:off x="812880" y="2385000"/>
            <a:ext cx="10883160" cy="1366200"/>
          </a:xfrm>
          <a:prstGeom prst="rect">
            <a:avLst/>
          </a:prstGeom>
          <a:noFill/>
          <a:ln>
            <a:noFill/>
          </a:ln>
        </p:spPr>
        <p:txBody>
          <a:bodyPr anchorCtr="0" anchor="t" bIns="0" lIns="0" spcFirstLastPara="1" rIns="0" wrap="square" tIns="0">
            <a:normAutofit fontScale="91000"/>
          </a:bodyPr>
          <a:lstStyle/>
          <a:p>
            <a:pPr indent="0" lvl="0" marL="0" marR="0" rtl="0" algn="l">
              <a:lnSpc>
                <a:spcPct val="110020"/>
              </a:lnSpc>
              <a:spcBef>
                <a:spcPts val="0"/>
              </a:spcBef>
              <a:spcAft>
                <a:spcPts val="0"/>
              </a:spcAft>
              <a:buClr>
                <a:srgbClr val="000000"/>
              </a:buClr>
              <a:buSzPct val="100000"/>
              <a:buFont typeface="Source Serif 4"/>
              <a:buNone/>
            </a:pPr>
            <a:r>
              <a:rPr b="1" i="0" lang="en-US" sz="4800" u="none" cap="none" strike="noStrike">
                <a:solidFill>
                  <a:srgbClr val="000000"/>
                </a:solidFill>
                <a:latin typeface="Source Serif 4"/>
                <a:ea typeface="Source Serif 4"/>
                <a:cs typeface="Source Serif 4"/>
                <a:sym typeface="Source Serif 4"/>
              </a:rPr>
              <a:t>Segmentação semântica de lesões em folhas de arroz com U-Net</a:t>
            </a:r>
            <a:endParaRPr b="0" i="0" sz="4800" u="none" cap="none" strike="noStrike">
              <a:solidFill>
                <a:srgbClr val="000000"/>
              </a:solidFill>
              <a:latin typeface="IBM Plex Sans"/>
              <a:ea typeface="IBM Plex Sans"/>
              <a:cs typeface="IBM Plex Sans"/>
              <a:sym typeface="IBM Plex Sans"/>
            </a:endParaRPr>
          </a:p>
        </p:txBody>
      </p:sp>
      <p:sp>
        <p:nvSpPr>
          <p:cNvPr id="66" name="Google Shape;66;p1"/>
          <p:cNvSpPr/>
          <p:nvPr/>
        </p:nvSpPr>
        <p:spPr>
          <a:xfrm>
            <a:off x="812880" y="4081680"/>
            <a:ext cx="10883160" cy="416160"/>
          </a:xfrm>
          <a:prstGeom prst="rect">
            <a:avLst/>
          </a:prstGeom>
          <a:noFill/>
          <a:ln>
            <a:noFill/>
          </a:ln>
        </p:spPr>
        <p:txBody>
          <a:bodyPr anchorCtr="0" anchor="t" bIns="0" lIns="0" spcFirstLastPara="1" rIns="0" wrap="square" tIns="0">
            <a:normAutofit/>
          </a:bodyPr>
          <a:lstStyle/>
          <a:p>
            <a:pPr indent="0" lvl="0" marL="0" marR="0" rtl="0" algn="l">
              <a:lnSpc>
                <a:spcPct val="140045"/>
              </a:lnSpc>
              <a:spcBef>
                <a:spcPts val="0"/>
              </a:spcBef>
              <a:spcAft>
                <a:spcPts val="0"/>
              </a:spcAft>
              <a:buClr>
                <a:srgbClr val="000000"/>
              </a:buClr>
              <a:buSzPts val="2200"/>
              <a:buFont typeface="IBM Plex Sans"/>
              <a:buNone/>
            </a:pPr>
            <a:r>
              <a:rPr b="0" i="0" lang="en-US" sz="2200" u="none" cap="none" strike="noStrike">
                <a:solidFill>
                  <a:srgbClr val="000000"/>
                </a:solidFill>
                <a:latin typeface="IBM Plex Sans"/>
                <a:ea typeface="IBM Plex Sans"/>
                <a:cs typeface="IBM Plex Sans"/>
                <a:sym typeface="IBM Plex Sans"/>
              </a:rPr>
              <a:t>Matheus Beuren Carvalho</a:t>
            </a:r>
            <a:endParaRPr b="0" i="0" sz="22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2"/>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fontScale="90000"/>
          </a:bodyPr>
          <a:lstStyle/>
          <a:p>
            <a:pPr indent="0" lvl="0" marL="0" marR="0" rtl="0" algn="l">
              <a:lnSpc>
                <a:spcPct val="110000"/>
              </a:lnSpc>
              <a:spcBef>
                <a:spcPts val="0"/>
              </a:spcBef>
              <a:spcAft>
                <a:spcPts val="0"/>
              </a:spcAft>
              <a:buClr>
                <a:srgbClr val="000000"/>
              </a:buClr>
              <a:buSzPct val="100000"/>
              <a:buFont typeface="Source Serif 4"/>
              <a:buNone/>
            </a:pPr>
            <a:r>
              <a:rPr b="1" i="0" lang="en-US" sz="3600" u="none" cap="none" strike="noStrike">
                <a:solidFill>
                  <a:srgbClr val="000000"/>
                </a:solidFill>
              </a:rPr>
              <a:t>Problema e Solução</a:t>
            </a:r>
            <a:endParaRPr i="0" sz="3600" u="none" cap="none" strike="noStrike">
              <a:solidFill>
                <a:srgbClr val="000000"/>
              </a:solidFill>
            </a:endParaRPr>
          </a:p>
        </p:txBody>
      </p:sp>
      <p:sp>
        <p:nvSpPr>
          <p:cNvPr id="73" name="Google Shape;73;p2"/>
          <p:cNvSpPr/>
          <p:nvPr/>
        </p:nvSpPr>
        <p:spPr>
          <a:xfrm>
            <a:off x="694560" y="2438745"/>
            <a:ext cx="6352500" cy="355200"/>
          </a:xfrm>
          <a:prstGeom prst="rect">
            <a:avLst/>
          </a:prstGeom>
          <a:noFill/>
          <a:ln>
            <a:noFill/>
          </a:ln>
        </p:spPr>
        <p:txBody>
          <a:bodyPr anchorCtr="0" anchor="t" bIns="0" lIns="0" spcFirstLastPara="1" rIns="0" wrap="square" tIns="0">
            <a:normAutofit/>
          </a:bodyPr>
          <a:lstStyle/>
          <a:p>
            <a:pPr indent="-355600" lvl="0" marL="457200" marR="0" rtl="0" algn="l">
              <a:lnSpc>
                <a:spcPct val="129950"/>
              </a:lnSpc>
              <a:spcBef>
                <a:spcPts val="0"/>
              </a:spcBef>
              <a:spcAft>
                <a:spcPts val="0"/>
              </a:spcAft>
              <a:buClr>
                <a:srgbClr val="000000"/>
              </a:buClr>
              <a:buSzPts val="2000"/>
              <a:buChar char="●"/>
            </a:pPr>
            <a:r>
              <a:rPr i="0" lang="en-US" sz="2000" u="none" cap="none" strike="noStrike">
                <a:solidFill>
                  <a:srgbClr val="000000"/>
                </a:solidFill>
              </a:rPr>
              <a:t>A classificação só identifica a doença</a:t>
            </a:r>
            <a:endParaRPr i="0" sz="2000" u="none" cap="none" strike="noStrike"/>
          </a:p>
        </p:txBody>
      </p:sp>
      <p:sp>
        <p:nvSpPr>
          <p:cNvPr id="74" name="Google Shape;74;p2"/>
          <p:cNvSpPr/>
          <p:nvPr/>
        </p:nvSpPr>
        <p:spPr>
          <a:xfrm>
            <a:off x="694560" y="2946705"/>
            <a:ext cx="6352500" cy="355200"/>
          </a:xfrm>
          <a:prstGeom prst="rect">
            <a:avLst/>
          </a:prstGeom>
          <a:noFill/>
          <a:ln>
            <a:noFill/>
          </a:ln>
        </p:spPr>
        <p:txBody>
          <a:bodyPr anchorCtr="0" anchor="t" bIns="0" lIns="0" spcFirstLastPara="1" rIns="0" wrap="square" tIns="0">
            <a:normAutofit/>
          </a:bodyPr>
          <a:lstStyle/>
          <a:p>
            <a:pPr indent="-355600" lvl="0" marL="457200" marR="0" rtl="0" algn="l">
              <a:lnSpc>
                <a:spcPct val="129950"/>
              </a:lnSpc>
              <a:spcBef>
                <a:spcPts val="0"/>
              </a:spcBef>
              <a:spcAft>
                <a:spcPts val="0"/>
              </a:spcAft>
              <a:buClr>
                <a:srgbClr val="000000"/>
              </a:buClr>
              <a:buSzPts val="2000"/>
              <a:buChar char="●"/>
            </a:pPr>
            <a:r>
              <a:rPr i="0" lang="en-US" sz="2000" u="none" cap="none" strike="noStrike">
                <a:solidFill>
                  <a:srgbClr val="000000"/>
                </a:solidFill>
              </a:rPr>
              <a:t>Não mostra onde está a lesão</a:t>
            </a:r>
            <a:endParaRPr i="0" sz="2000" u="none" cap="none" strike="noStrike"/>
          </a:p>
        </p:txBody>
      </p:sp>
      <p:sp>
        <p:nvSpPr>
          <p:cNvPr id="75" name="Google Shape;75;p2"/>
          <p:cNvSpPr/>
          <p:nvPr/>
        </p:nvSpPr>
        <p:spPr>
          <a:xfrm>
            <a:off x="694560" y="3454665"/>
            <a:ext cx="6352500" cy="355200"/>
          </a:xfrm>
          <a:prstGeom prst="rect">
            <a:avLst/>
          </a:prstGeom>
          <a:noFill/>
          <a:ln>
            <a:noFill/>
          </a:ln>
        </p:spPr>
        <p:txBody>
          <a:bodyPr anchorCtr="0" anchor="t" bIns="0" lIns="0" spcFirstLastPara="1" rIns="0" wrap="square" tIns="0">
            <a:normAutofit/>
          </a:bodyPr>
          <a:lstStyle/>
          <a:p>
            <a:pPr indent="-355600" lvl="0" marL="457200" marR="0" rtl="0" algn="l">
              <a:lnSpc>
                <a:spcPct val="129950"/>
              </a:lnSpc>
              <a:spcBef>
                <a:spcPts val="0"/>
              </a:spcBef>
              <a:spcAft>
                <a:spcPts val="0"/>
              </a:spcAft>
              <a:buClr>
                <a:srgbClr val="000000"/>
              </a:buClr>
              <a:buSzPts val="2000"/>
              <a:buChar char="●"/>
            </a:pPr>
            <a:r>
              <a:rPr i="0" lang="en-US" sz="2000" u="none" cap="none" strike="noStrike">
                <a:solidFill>
                  <a:srgbClr val="000000"/>
                </a:solidFill>
              </a:rPr>
              <a:t>Segmentação classifica cada pixel da folha</a:t>
            </a:r>
            <a:endParaRPr i="0" sz="2000" u="none" cap="none" strike="noStrike"/>
          </a:p>
        </p:txBody>
      </p:sp>
      <p:sp>
        <p:nvSpPr>
          <p:cNvPr id="76" name="Google Shape;76;p2"/>
          <p:cNvSpPr/>
          <p:nvPr/>
        </p:nvSpPr>
        <p:spPr>
          <a:xfrm>
            <a:off x="7416720" y="1671120"/>
            <a:ext cx="4080960" cy="309600"/>
          </a:xfrm>
          <a:prstGeom prst="rect">
            <a:avLst/>
          </a:prstGeom>
          <a:noFill/>
          <a:ln>
            <a:noFill/>
          </a:ln>
        </p:spPr>
        <p:txBody>
          <a:bodyPr anchorCtr="0" anchor="t" bIns="0" lIns="0" spcFirstLastPara="1" rIns="0" wrap="square" tIns="0">
            <a:normAutofit/>
          </a:bodyPr>
          <a:lstStyle/>
          <a:p>
            <a:pPr indent="0" lvl="0" marL="0" marR="0" rtl="0" algn="l">
              <a:lnSpc>
                <a:spcPct val="139937"/>
              </a:lnSpc>
              <a:spcBef>
                <a:spcPts val="0"/>
              </a:spcBef>
              <a:spcAft>
                <a:spcPts val="0"/>
              </a:spcAft>
              <a:buClr>
                <a:srgbClr val="000000"/>
              </a:buClr>
              <a:buSzPts val="1600"/>
              <a:buFont typeface="IBM Plex Sans"/>
              <a:buNone/>
            </a:pPr>
            <a:r>
              <a:rPr b="1" i="0" lang="en-US" sz="1600" u="none" cap="none" strike="noStrike">
                <a:solidFill>
                  <a:srgbClr val="000000"/>
                </a:solidFill>
              </a:rPr>
              <a:t>Classificação</a:t>
            </a:r>
            <a:endParaRPr i="0" sz="1600" u="none" cap="none" strike="noStrike"/>
          </a:p>
        </p:txBody>
      </p:sp>
      <p:pic>
        <p:nvPicPr>
          <p:cNvPr descr="Foto real de uma folha de arroz com duas lesões marrons" id="77" name="Google Shape;77;p2"/>
          <p:cNvPicPr preferRelativeResize="0"/>
          <p:nvPr/>
        </p:nvPicPr>
        <p:blipFill rotWithShape="1">
          <a:blip r:embed="rId3">
            <a:alphaModFix/>
          </a:blip>
          <a:srcRect b="0" l="0" r="0" t="0"/>
          <a:stretch/>
        </p:blipFill>
        <p:spPr>
          <a:xfrm>
            <a:off x="7435800" y="2025720"/>
            <a:ext cx="1612440" cy="1612440"/>
          </a:xfrm>
          <a:prstGeom prst="rect">
            <a:avLst/>
          </a:prstGeom>
          <a:noFill/>
          <a:ln>
            <a:noFill/>
          </a:ln>
        </p:spPr>
      </p:pic>
      <p:sp>
        <p:nvSpPr>
          <p:cNvPr id="78" name="Google Shape;78;p2"/>
          <p:cNvSpPr/>
          <p:nvPr/>
        </p:nvSpPr>
        <p:spPr>
          <a:xfrm>
            <a:off x="7426440" y="2016000"/>
            <a:ext cx="1631520" cy="16315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row-right" id="79" name="Google Shape;79;p2"/>
          <p:cNvPicPr preferRelativeResize="0"/>
          <p:nvPr/>
        </p:nvPicPr>
        <p:blipFill rotWithShape="1">
          <a:blip r:embed="rId4">
            <a:alphaModFix/>
          </a:blip>
          <a:srcRect b="0" l="0" r="0" t="0"/>
          <a:stretch/>
        </p:blipFill>
        <p:spPr>
          <a:xfrm>
            <a:off x="9220320" y="2743200"/>
            <a:ext cx="355320" cy="177480"/>
          </a:xfrm>
          <a:prstGeom prst="rect">
            <a:avLst/>
          </a:prstGeom>
          <a:noFill/>
          <a:ln>
            <a:noFill/>
          </a:ln>
        </p:spPr>
      </p:pic>
      <p:sp>
        <p:nvSpPr>
          <p:cNvPr id="80" name="Google Shape;80;p2"/>
          <p:cNvSpPr/>
          <p:nvPr/>
        </p:nvSpPr>
        <p:spPr>
          <a:xfrm>
            <a:off x="9737640" y="2016000"/>
            <a:ext cx="1631520" cy="1631520"/>
          </a:xfrm>
          <a:prstGeom prst="rect">
            <a:avLst/>
          </a:prstGeom>
          <a:noFill/>
          <a:ln cap="flat" cmpd="sng" w="19050">
            <a:solidFill>
              <a:srgbClr val="000000"/>
            </a:solidFill>
            <a:prstDash val="solid"/>
            <a:round/>
            <a:headEnd len="sm" w="sm" type="none"/>
            <a:tailEnd len="sm" w="sm" type="none"/>
          </a:ln>
        </p:spPr>
        <p:txBody>
          <a:bodyPr anchorCtr="0" anchor="ctr" bIns="9350" lIns="9350" spcFirstLastPara="1" rIns="9350" wrap="square" tIns="9350">
            <a:normAutofit/>
          </a:bodyPr>
          <a:lstStyle/>
          <a:p>
            <a:pPr indent="0" lvl="0" marL="0" marR="0" rtl="0" algn="ctr">
              <a:lnSpc>
                <a:spcPct val="140000"/>
              </a:lnSpc>
              <a:spcBef>
                <a:spcPts val="0"/>
              </a:spcBef>
              <a:spcAft>
                <a:spcPts val="0"/>
              </a:spcAft>
              <a:buClr>
                <a:srgbClr val="000000"/>
              </a:buClr>
              <a:buSzPts val="2800"/>
              <a:buFont typeface="IBM Plex Sans"/>
              <a:buNone/>
            </a:pPr>
            <a:r>
              <a:rPr b="1" i="0" lang="en-US" sz="2800" u="none" cap="none" strike="noStrike">
                <a:solidFill>
                  <a:srgbClr val="000000"/>
                </a:solidFill>
                <a:latin typeface="IBM Plex Sans"/>
                <a:ea typeface="IBM Plex Sans"/>
                <a:cs typeface="IBM Plex Sans"/>
                <a:sym typeface="IBM Plex Sans"/>
              </a:rPr>
              <a:t>Blast</a:t>
            </a:r>
            <a:endParaRPr b="0" i="0" sz="2800" u="none" cap="none" strike="noStrike">
              <a:latin typeface="Arial"/>
              <a:ea typeface="Arial"/>
              <a:cs typeface="Arial"/>
              <a:sym typeface="Arial"/>
            </a:endParaRPr>
          </a:p>
        </p:txBody>
      </p:sp>
      <p:sp>
        <p:nvSpPr>
          <p:cNvPr id="81" name="Google Shape;81;p2"/>
          <p:cNvSpPr/>
          <p:nvPr/>
        </p:nvSpPr>
        <p:spPr>
          <a:xfrm>
            <a:off x="7416720" y="3809880"/>
            <a:ext cx="4080960" cy="309600"/>
          </a:xfrm>
          <a:prstGeom prst="rect">
            <a:avLst/>
          </a:prstGeom>
          <a:noFill/>
          <a:ln>
            <a:noFill/>
          </a:ln>
        </p:spPr>
        <p:txBody>
          <a:bodyPr anchorCtr="0" anchor="t" bIns="0" lIns="0" spcFirstLastPara="1" rIns="0" wrap="square" tIns="0">
            <a:normAutofit/>
          </a:bodyPr>
          <a:lstStyle/>
          <a:p>
            <a:pPr indent="0" lvl="0" marL="0" marR="0" rtl="0" algn="l">
              <a:lnSpc>
                <a:spcPct val="139937"/>
              </a:lnSpc>
              <a:spcBef>
                <a:spcPts val="0"/>
              </a:spcBef>
              <a:spcAft>
                <a:spcPts val="0"/>
              </a:spcAft>
              <a:buClr>
                <a:srgbClr val="000000"/>
              </a:buClr>
              <a:buSzPts val="1600"/>
              <a:buFont typeface="IBM Plex Sans"/>
              <a:buNone/>
            </a:pPr>
            <a:r>
              <a:rPr b="1" i="0" lang="en-US" sz="1600" u="none" cap="none" strike="noStrike">
                <a:solidFill>
                  <a:srgbClr val="000000"/>
                </a:solidFill>
              </a:rPr>
              <a:t>Segmentação</a:t>
            </a:r>
            <a:endParaRPr i="0" sz="1600" u="none" cap="none" strike="noStrike"/>
          </a:p>
        </p:txBody>
      </p:sp>
      <p:pic>
        <p:nvPicPr>
          <p:cNvPr descr="Foto real de uma folha de arroz com duas lesões marrons" id="82" name="Google Shape;82;p2"/>
          <p:cNvPicPr preferRelativeResize="0"/>
          <p:nvPr/>
        </p:nvPicPr>
        <p:blipFill rotWithShape="1">
          <a:blip r:embed="rId3">
            <a:alphaModFix/>
          </a:blip>
          <a:srcRect b="0" l="0" r="0" t="0"/>
          <a:stretch/>
        </p:blipFill>
        <p:spPr>
          <a:xfrm>
            <a:off x="7435800" y="4164120"/>
            <a:ext cx="1612440" cy="1612440"/>
          </a:xfrm>
          <a:prstGeom prst="rect">
            <a:avLst/>
          </a:prstGeom>
          <a:noFill/>
          <a:ln>
            <a:noFill/>
          </a:ln>
        </p:spPr>
      </p:pic>
      <p:sp>
        <p:nvSpPr>
          <p:cNvPr id="83" name="Google Shape;83;p2"/>
          <p:cNvSpPr/>
          <p:nvPr/>
        </p:nvSpPr>
        <p:spPr>
          <a:xfrm>
            <a:off x="7426440" y="4154760"/>
            <a:ext cx="1631520" cy="16315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row-right" id="84" name="Google Shape;84;p2"/>
          <p:cNvPicPr preferRelativeResize="0"/>
          <p:nvPr/>
        </p:nvPicPr>
        <p:blipFill rotWithShape="1">
          <a:blip r:embed="rId4">
            <a:alphaModFix/>
          </a:blip>
          <a:srcRect b="0" l="0" r="0" t="0"/>
          <a:stretch/>
        </p:blipFill>
        <p:spPr>
          <a:xfrm>
            <a:off x="9220320" y="4881600"/>
            <a:ext cx="355320" cy="177480"/>
          </a:xfrm>
          <a:prstGeom prst="rect">
            <a:avLst/>
          </a:prstGeom>
          <a:noFill/>
          <a:ln>
            <a:noFill/>
          </a:ln>
        </p:spPr>
      </p:pic>
      <p:pic>
        <p:nvPicPr>
          <p:cNvPr descr="Máscara da lesão, com duas manchas brancas sobre fundo preto, nas posições das lesões da folha" id="85" name="Google Shape;85;p2"/>
          <p:cNvPicPr preferRelativeResize="0"/>
          <p:nvPr/>
        </p:nvPicPr>
        <p:blipFill rotWithShape="1">
          <a:blip r:embed="rId5">
            <a:alphaModFix/>
          </a:blip>
          <a:srcRect b="0" l="0" r="0" t="0"/>
          <a:stretch/>
        </p:blipFill>
        <p:spPr>
          <a:xfrm>
            <a:off x="9747360" y="4164120"/>
            <a:ext cx="1612440" cy="1612440"/>
          </a:xfrm>
          <a:prstGeom prst="rect">
            <a:avLst/>
          </a:prstGeom>
          <a:noFill/>
          <a:ln>
            <a:noFill/>
          </a:ln>
        </p:spPr>
      </p:pic>
      <p:sp>
        <p:nvSpPr>
          <p:cNvPr id="86" name="Google Shape;86;p2"/>
          <p:cNvSpPr/>
          <p:nvPr/>
        </p:nvSpPr>
        <p:spPr>
          <a:xfrm>
            <a:off x="9737640" y="4154760"/>
            <a:ext cx="1631520" cy="16315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3"/>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Dados</a:t>
            </a:r>
            <a:endParaRPr b="0" i="0" sz="3600" u="none" cap="none" strike="noStrike">
              <a:solidFill>
                <a:srgbClr val="000000"/>
              </a:solidFill>
              <a:latin typeface="IBM Plex Sans"/>
              <a:ea typeface="IBM Plex Sans"/>
              <a:cs typeface="IBM Plex Sans"/>
              <a:sym typeface="IBM Plex Sans"/>
            </a:endParaRPr>
          </a:p>
        </p:txBody>
      </p:sp>
      <p:sp>
        <p:nvSpPr>
          <p:cNvPr id="93" name="Google Shape;93;p3"/>
          <p:cNvSpPr/>
          <p:nvPr/>
        </p:nvSpPr>
        <p:spPr>
          <a:xfrm>
            <a:off x="870480" y="2760840"/>
            <a:ext cx="4957560" cy="289080"/>
          </a:xfrm>
          <a:prstGeom prst="rect">
            <a:avLst/>
          </a:prstGeom>
          <a:noFill/>
          <a:ln>
            <a:noFill/>
          </a:ln>
        </p:spPr>
        <p:txBody>
          <a:bodyPr anchorCtr="0" anchor="t" bIns="0" lIns="0" spcFirstLastPara="1" rIns="0" wrap="square" tIns="0">
            <a:normAutofit/>
          </a:bodyPr>
          <a:lstStyle/>
          <a:p>
            <a:pPr indent="-330200" lvl="0" marL="457200" marR="0" rtl="0" algn="l">
              <a:lnSpc>
                <a:spcPct val="130062"/>
              </a:lnSpc>
              <a:spcBef>
                <a:spcPts val="0"/>
              </a:spcBef>
              <a:spcAft>
                <a:spcPts val="0"/>
              </a:spcAft>
              <a:buSzPts val="1600"/>
              <a:buChar char="●"/>
            </a:pPr>
            <a:r>
              <a:rPr i="0" lang="en-US" sz="1600" u="none" cap="none" strike="noStrike">
                <a:solidFill>
                  <a:srgbClr val="000000"/>
                </a:solidFill>
              </a:rPr>
              <a:t>Treino: RiceSeg-5932 imagens e </a:t>
            </a:r>
            <a:r>
              <a:rPr lang="en-US" sz="1600"/>
              <a:t>mascaras</a:t>
            </a:r>
            <a:endParaRPr i="0" sz="1600" u="none" cap="none" strike="noStrike"/>
          </a:p>
        </p:txBody>
      </p:sp>
      <p:sp>
        <p:nvSpPr>
          <p:cNvPr id="94" name="Google Shape;94;p3"/>
          <p:cNvSpPr/>
          <p:nvPr/>
        </p:nvSpPr>
        <p:spPr>
          <a:xfrm>
            <a:off x="1175400" y="3075840"/>
            <a:ext cx="4643640" cy="289080"/>
          </a:xfrm>
          <a:prstGeom prst="rect">
            <a:avLst/>
          </a:prstGeom>
          <a:noFill/>
          <a:ln>
            <a:noFill/>
          </a:ln>
        </p:spPr>
        <p:txBody>
          <a:bodyPr anchorCtr="0" anchor="t" bIns="0" lIns="0" spcFirstLastPara="1" rIns="0" wrap="square" tIns="0">
            <a:normAutofit/>
          </a:bodyPr>
          <a:lstStyle/>
          <a:p>
            <a:pPr indent="-330200" lvl="0" marL="457200" marR="0" rtl="0" algn="l">
              <a:lnSpc>
                <a:spcPct val="130062"/>
              </a:lnSpc>
              <a:spcBef>
                <a:spcPts val="0"/>
              </a:spcBef>
              <a:spcAft>
                <a:spcPts val="0"/>
              </a:spcAft>
              <a:buClr>
                <a:srgbClr val="000000"/>
              </a:buClr>
              <a:buSzPts val="1600"/>
              <a:buChar char="●"/>
            </a:pPr>
            <a:r>
              <a:rPr i="0" lang="en-US" sz="1600" u="none" cap="none" strike="noStrike">
                <a:solidFill>
                  <a:srgbClr val="000000"/>
                </a:solidFill>
              </a:rPr>
              <a:t>5.932 imagens com máscara manual</a:t>
            </a:r>
            <a:endParaRPr i="0" sz="1600" u="none" cap="none" strike="noStrike"/>
          </a:p>
        </p:txBody>
      </p:sp>
      <p:sp>
        <p:nvSpPr>
          <p:cNvPr id="95" name="Google Shape;95;p3"/>
          <p:cNvSpPr/>
          <p:nvPr/>
        </p:nvSpPr>
        <p:spPr>
          <a:xfrm>
            <a:off x="1175400" y="3378240"/>
            <a:ext cx="4643640" cy="289080"/>
          </a:xfrm>
          <a:prstGeom prst="rect">
            <a:avLst/>
          </a:prstGeom>
          <a:noFill/>
          <a:ln>
            <a:noFill/>
          </a:ln>
        </p:spPr>
        <p:txBody>
          <a:bodyPr anchorCtr="0" anchor="t" bIns="0" lIns="0" spcFirstLastPara="1" rIns="0" wrap="square" tIns="0">
            <a:normAutofit/>
          </a:bodyPr>
          <a:lstStyle/>
          <a:p>
            <a:pPr indent="-330200" lvl="0" marL="457200" marR="0" rtl="0" algn="l">
              <a:lnSpc>
                <a:spcPct val="130062"/>
              </a:lnSpc>
              <a:spcBef>
                <a:spcPts val="0"/>
              </a:spcBef>
              <a:spcAft>
                <a:spcPts val="0"/>
              </a:spcAft>
              <a:buClr>
                <a:srgbClr val="000000"/>
              </a:buClr>
              <a:buSzPts val="1600"/>
              <a:buChar char="●"/>
            </a:pPr>
            <a:r>
              <a:rPr i="0" lang="en-US" sz="1600" u="none" cap="none" strike="noStrike">
                <a:solidFill>
                  <a:srgbClr val="000000"/>
                </a:solidFill>
              </a:rPr>
              <a:t>Treino e validação 80/20</a:t>
            </a:r>
            <a:endParaRPr i="0" sz="1600" u="none" cap="none" strike="noStrike"/>
          </a:p>
        </p:txBody>
      </p:sp>
      <p:sp>
        <p:nvSpPr>
          <p:cNvPr id="96" name="Google Shape;96;p3"/>
          <p:cNvSpPr/>
          <p:nvPr/>
        </p:nvSpPr>
        <p:spPr>
          <a:xfrm>
            <a:off x="870480" y="3896280"/>
            <a:ext cx="4957560" cy="289080"/>
          </a:xfrm>
          <a:prstGeom prst="rect">
            <a:avLst/>
          </a:prstGeom>
          <a:noFill/>
          <a:ln>
            <a:noFill/>
          </a:ln>
        </p:spPr>
        <p:txBody>
          <a:bodyPr anchorCtr="0" anchor="t" bIns="0" lIns="0" spcFirstLastPara="1" rIns="0" wrap="square" tIns="0">
            <a:normAutofit/>
          </a:bodyPr>
          <a:lstStyle/>
          <a:p>
            <a:pPr indent="-330200" lvl="0" marL="457200" marR="0" rtl="0" algn="l">
              <a:lnSpc>
                <a:spcPct val="130062"/>
              </a:lnSpc>
              <a:spcBef>
                <a:spcPts val="0"/>
              </a:spcBef>
              <a:spcAft>
                <a:spcPts val="0"/>
              </a:spcAft>
              <a:buClr>
                <a:srgbClr val="000000"/>
              </a:buClr>
              <a:buSzPts val="1600"/>
              <a:buChar char="●"/>
            </a:pPr>
            <a:r>
              <a:rPr i="0" lang="en-US" sz="1600" u="none" cap="none" strike="noStrike">
                <a:solidFill>
                  <a:srgbClr val="000000"/>
                </a:solidFill>
              </a:rPr>
              <a:t>Teste: Multi-Class</a:t>
            </a:r>
            <a:r>
              <a:rPr lang="en-US" sz="1600"/>
              <a:t>(sem mascara)</a:t>
            </a:r>
            <a:endParaRPr i="0" sz="1600" u="none" cap="none" strike="noStrike"/>
          </a:p>
        </p:txBody>
      </p:sp>
      <p:sp>
        <p:nvSpPr>
          <p:cNvPr id="97" name="Google Shape;97;p3"/>
          <p:cNvSpPr/>
          <p:nvPr/>
        </p:nvSpPr>
        <p:spPr>
          <a:xfrm>
            <a:off x="1175400" y="4211280"/>
            <a:ext cx="4643640" cy="289080"/>
          </a:xfrm>
          <a:prstGeom prst="rect">
            <a:avLst/>
          </a:prstGeom>
          <a:noFill/>
          <a:ln>
            <a:noFill/>
          </a:ln>
        </p:spPr>
        <p:txBody>
          <a:bodyPr anchorCtr="0" anchor="t" bIns="0" lIns="0" spcFirstLastPara="1" rIns="0" wrap="square" tIns="0">
            <a:normAutofit/>
          </a:bodyPr>
          <a:lstStyle/>
          <a:p>
            <a:pPr indent="-317500" lvl="0" marL="457200" marR="0" rtl="0" algn="l">
              <a:lnSpc>
                <a:spcPct val="130062"/>
              </a:lnSpc>
              <a:spcBef>
                <a:spcPts val="0"/>
              </a:spcBef>
              <a:spcAft>
                <a:spcPts val="0"/>
              </a:spcAft>
              <a:buSzPts val="1400"/>
              <a:buChar char="●"/>
            </a:pPr>
            <a:r>
              <a:rPr lang="en-US" sz="1600"/>
              <a:t>2</a:t>
            </a:r>
            <a:r>
              <a:rPr i="0" lang="en-US" sz="1600" u="none" cap="none" strike="noStrike">
                <a:solidFill>
                  <a:srgbClr val="000000"/>
                </a:solidFill>
              </a:rPr>
              <a:t>.623 imagens</a:t>
            </a:r>
            <a:endParaRPr i="0" sz="1600" u="none" cap="none" strike="noStrike"/>
          </a:p>
        </p:txBody>
      </p:sp>
      <p:sp>
        <p:nvSpPr>
          <p:cNvPr id="98" name="Google Shape;98;p3"/>
          <p:cNvSpPr/>
          <p:nvPr/>
        </p:nvSpPr>
        <p:spPr>
          <a:xfrm>
            <a:off x="1175400" y="4513320"/>
            <a:ext cx="4643640" cy="289080"/>
          </a:xfrm>
          <a:prstGeom prst="rect">
            <a:avLst/>
          </a:prstGeom>
          <a:noFill/>
          <a:ln>
            <a:noFill/>
          </a:ln>
        </p:spPr>
        <p:txBody>
          <a:bodyPr anchorCtr="0" anchor="t" bIns="0" lIns="0" spcFirstLastPara="1" rIns="0" wrap="square" tIns="0">
            <a:normAutofit/>
          </a:bodyPr>
          <a:lstStyle/>
          <a:p>
            <a:pPr indent="-330200" lvl="0" marL="457200" marR="0" rtl="0" algn="l">
              <a:lnSpc>
                <a:spcPct val="130062"/>
              </a:lnSpc>
              <a:spcBef>
                <a:spcPts val="0"/>
              </a:spcBef>
              <a:spcAft>
                <a:spcPts val="0"/>
              </a:spcAft>
              <a:buClr>
                <a:srgbClr val="000000"/>
              </a:buClr>
              <a:buSzPts val="1600"/>
              <a:buChar char="●"/>
            </a:pPr>
            <a:r>
              <a:rPr i="0" lang="en-US" sz="1600" u="none" cap="none" strike="noStrike">
                <a:solidFill>
                  <a:srgbClr val="000000"/>
                </a:solidFill>
              </a:rPr>
              <a:t>Só rótulo por imagem</a:t>
            </a:r>
            <a:endParaRPr i="0" sz="1600" u="none" cap="none" strike="noStrike"/>
          </a:p>
        </p:txBody>
      </p:sp>
      <p:pic>
        <p:nvPicPr>
          <p:cNvPr descr="Bacterialblight: faixas amareladas ao longo das margens da folha" id="99" name="Google Shape;99;p3"/>
          <p:cNvPicPr preferRelativeResize="0"/>
          <p:nvPr/>
        </p:nvPicPr>
        <p:blipFill rotWithShape="1">
          <a:blip r:embed="rId3">
            <a:alphaModFix/>
          </a:blip>
          <a:srcRect b="13316" l="0" r="0" t="13316"/>
          <a:stretch/>
        </p:blipFill>
        <p:spPr>
          <a:xfrm>
            <a:off x="6114960" y="1537920"/>
            <a:ext cx="2526840" cy="1854000"/>
          </a:xfrm>
          <a:prstGeom prst="rect">
            <a:avLst/>
          </a:prstGeom>
          <a:noFill/>
          <a:ln>
            <a:noFill/>
          </a:ln>
        </p:spPr>
      </p:pic>
      <p:sp>
        <p:nvSpPr>
          <p:cNvPr id="100" name="Google Shape;100;p3"/>
          <p:cNvSpPr/>
          <p:nvPr/>
        </p:nvSpPr>
        <p:spPr>
          <a:xfrm>
            <a:off x="6105600" y="1528200"/>
            <a:ext cx="2545920" cy="18727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6095880" y="3462120"/>
            <a:ext cx="2642040" cy="2559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00000"/>
              </a:buClr>
              <a:buSzPts val="1400"/>
              <a:buFont typeface="IBM Plex Sans"/>
              <a:buNone/>
            </a:pPr>
            <a:r>
              <a:rPr b="1" i="0" lang="en-US" sz="1400" u="none" cap="none" strike="noStrike">
                <a:solidFill>
                  <a:srgbClr val="000000"/>
                </a:solidFill>
              </a:rPr>
              <a:t>0</a:t>
            </a:r>
            <a:r>
              <a:rPr i="0" lang="en-US" sz="1400" u="none" cap="none" strike="noStrike">
                <a:solidFill>
                  <a:srgbClr val="000000"/>
                </a:solidFill>
              </a:rPr>
              <a:t> Bacterialblight</a:t>
            </a:r>
            <a:endParaRPr i="0" sz="1400" u="none" cap="none" strike="noStrike"/>
          </a:p>
        </p:txBody>
      </p:sp>
      <p:pic>
        <p:nvPicPr>
          <p:cNvPr descr="Blast: lesões em forma de losango com centro acinzentado e borda marrom" id="102" name="Google Shape;102;p3"/>
          <p:cNvPicPr preferRelativeResize="0"/>
          <p:nvPr/>
        </p:nvPicPr>
        <p:blipFill rotWithShape="1">
          <a:blip r:embed="rId4">
            <a:alphaModFix/>
          </a:blip>
          <a:srcRect b="13316" l="0" r="0" t="13316"/>
          <a:stretch/>
        </p:blipFill>
        <p:spPr>
          <a:xfrm>
            <a:off x="8832960" y="1537920"/>
            <a:ext cx="2526840" cy="1854000"/>
          </a:xfrm>
          <a:prstGeom prst="rect">
            <a:avLst/>
          </a:prstGeom>
          <a:noFill/>
          <a:ln>
            <a:noFill/>
          </a:ln>
        </p:spPr>
      </p:pic>
      <p:sp>
        <p:nvSpPr>
          <p:cNvPr id="103" name="Google Shape;103;p3"/>
          <p:cNvSpPr/>
          <p:nvPr/>
        </p:nvSpPr>
        <p:spPr>
          <a:xfrm>
            <a:off x="8823240" y="1528200"/>
            <a:ext cx="2545920" cy="18727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8813880" y="3462120"/>
            <a:ext cx="2642040" cy="2559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00000"/>
              </a:buClr>
              <a:buSzPts val="1400"/>
              <a:buFont typeface="IBM Plex Sans"/>
              <a:buNone/>
            </a:pPr>
            <a:r>
              <a:rPr b="1" i="0" lang="en-US" sz="1400" u="none" cap="none" strike="noStrike">
                <a:solidFill>
                  <a:srgbClr val="000000"/>
                </a:solidFill>
              </a:rPr>
              <a:t>1</a:t>
            </a:r>
            <a:r>
              <a:rPr i="0" lang="en-US" sz="1400" u="none" cap="none" strike="noStrike">
                <a:solidFill>
                  <a:srgbClr val="000000"/>
                </a:solidFill>
              </a:rPr>
              <a:t> Blast</a:t>
            </a:r>
            <a:endParaRPr i="0" sz="1400" u="none" cap="none" strike="noStrike"/>
          </a:p>
        </p:txBody>
      </p:sp>
      <p:pic>
        <p:nvPicPr>
          <p:cNvPr descr="Brownspot: várias manchas ovais marrons pequenas com halo amarelo" id="105" name="Google Shape;105;p3"/>
          <p:cNvPicPr preferRelativeResize="0"/>
          <p:nvPr/>
        </p:nvPicPr>
        <p:blipFill rotWithShape="1">
          <a:blip r:embed="rId5">
            <a:alphaModFix/>
          </a:blip>
          <a:srcRect b="13316" l="0" r="0" t="13316"/>
          <a:stretch/>
        </p:blipFill>
        <p:spPr>
          <a:xfrm>
            <a:off x="6114960" y="3864600"/>
            <a:ext cx="2526840" cy="1854000"/>
          </a:xfrm>
          <a:prstGeom prst="rect">
            <a:avLst/>
          </a:prstGeom>
          <a:noFill/>
          <a:ln>
            <a:noFill/>
          </a:ln>
        </p:spPr>
      </p:pic>
      <p:sp>
        <p:nvSpPr>
          <p:cNvPr id="106" name="Google Shape;106;p3"/>
          <p:cNvSpPr/>
          <p:nvPr/>
        </p:nvSpPr>
        <p:spPr>
          <a:xfrm>
            <a:off x="6105600" y="3854880"/>
            <a:ext cx="2545920" cy="18727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6095880" y="5788440"/>
            <a:ext cx="2642040" cy="2559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00000"/>
              </a:buClr>
              <a:buSzPts val="1400"/>
              <a:buFont typeface="IBM Plex Sans"/>
              <a:buNone/>
            </a:pPr>
            <a:r>
              <a:rPr b="1" i="0" lang="en-US" sz="1400" u="none" cap="none" strike="noStrike">
                <a:solidFill>
                  <a:srgbClr val="000000"/>
                </a:solidFill>
              </a:rPr>
              <a:t>2</a:t>
            </a:r>
            <a:r>
              <a:rPr i="0" lang="en-US" sz="1400" u="none" cap="none" strike="noStrike">
                <a:solidFill>
                  <a:srgbClr val="000000"/>
                </a:solidFill>
              </a:rPr>
              <a:t> Brownspot</a:t>
            </a:r>
            <a:endParaRPr i="0" sz="1400" u="none" cap="none" strike="noStrike"/>
          </a:p>
        </p:txBody>
      </p:sp>
      <p:pic>
        <p:nvPicPr>
          <p:cNvPr descr="Tungro: folhas amarelo-alaranjadas na planta" id="108" name="Google Shape;108;p3"/>
          <p:cNvPicPr preferRelativeResize="0"/>
          <p:nvPr/>
        </p:nvPicPr>
        <p:blipFill rotWithShape="1">
          <a:blip r:embed="rId6">
            <a:alphaModFix/>
          </a:blip>
          <a:srcRect b="1189" l="0" r="0" t="1189"/>
          <a:stretch/>
        </p:blipFill>
        <p:spPr>
          <a:xfrm>
            <a:off x="8832960" y="3864600"/>
            <a:ext cx="2526840" cy="1854000"/>
          </a:xfrm>
          <a:prstGeom prst="rect">
            <a:avLst/>
          </a:prstGeom>
          <a:noFill/>
          <a:ln>
            <a:noFill/>
          </a:ln>
        </p:spPr>
      </p:pic>
      <p:sp>
        <p:nvSpPr>
          <p:cNvPr id="109" name="Google Shape;109;p3"/>
          <p:cNvSpPr/>
          <p:nvPr/>
        </p:nvSpPr>
        <p:spPr>
          <a:xfrm>
            <a:off x="8823240" y="3854880"/>
            <a:ext cx="2545920" cy="187272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8813880" y="5788440"/>
            <a:ext cx="2642040" cy="2559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00000"/>
              </a:buClr>
              <a:buSzPts val="1400"/>
              <a:buFont typeface="IBM Plex Sans"/>
              <a:buNone/>
            </a:pPr>
            <a:r>
              <a:rPr b="1" i="0" lang="en-US" sz="1400" u="none" cap="none" strike="noStrike">
                <a:solidFill>
                  <a:srgbClr val="000000"/>
                </a:solidFill>
              </a:rPr>
              <a:t>3</a:t>
            </a:r>
            <a:r>
              <a:rPr i="0" lang="en-US" sz="1400" u="none" cap="none" strike="noStrike">
                <a:solidFill>
                  <a:srgbClr val="000000"/>
                </a:solidFill>
              </a:rPr>
              <a:t> Tungro</a:t>
            </a:r>
            <a:endParaRPr i="0" sz="14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4"/>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Arquitetura e Modelos</a:t>
            </a:r>
            <a:endParaRPr b="0" i="0" sz="3600" u="none" cap="none" strike="noStrike">
              <a:solidFill>
                <a:srgbClr val="000000"/>
              </a:solidFill>
              <a:latin typeface="IBM Plex Sans"/>
              <a:ea typeface="IBM Plex Sans"/>
              <a:cs typeface="IBM Plex Sans"/>
              <a:sym typeface="IBM Plex Sans"/>
            </a:endParaRPr>
          </a:p>
        </p:txBody>
      </p:sp>
      <p:sp>
        <p:nvSpPr>
          <p:cNvPr id="117" name="Google Shape;117;p4"/>
          <p:cNvSpPr/>
          <p:nvPr/>
        </p:nvSpPr>
        <p:spPr>
          <a:xfrm>
            <a:off x="835560" y="2636280"/>
            <a:ext cx="4547520" cy="355320"/>
          </a:xfrm>
          <a:prstGeom prst="rect">
            <a:avLst/>
          </a:prstGeom>
          <a:noFill/>
          <a:ln>
            <a:noFill/>
          </a:ln>
        </p:spPr>
        <p:txBody>
          <a:bodyPr anchorCtr="0" anchor="t" bIns="0" lIns="0" spcFirstLastPara="1" rIns="0" wrap="square" tIns="0">
            <a:normAutofit/>
          </a:bodyPr>
          <a:lstStyle/>
          <a:p>
            <a:pPr indent="-355600" lvl="0" marL="457200" marR="0" rtl="0" algn="l">
              <a:lnSpc>
                <a:spcPct val="129950"/>
              </a:lnSpc>
              <a:spcBef>
                <a:spcPts val="0"/>
              </a:spcBef>
              <a:spcAft>
                <a:spcPts val="0"/>
              </a:spcAft>
              <a:buClr>
                <a:srgbClr val="000000"/>
              </a:buClr>
              <a:buSzPts val="2000"/>
              <a:buChar char="●"/>
            </a:pPr>
            <a:r>
              <a:rPr i="0" lang="en-US" sz="2000" u="none" cap="none" strike="noStrike">
                <a:solidFill>
                  <a:srgbClr val="000000"/>
                </a:solidFill>
              </a:rPr>
              <a:t>U-Net gera a máscara da lesão</a:t>
            </a:r>
            <a:endParaRPr i="0" sz="2000" u="none" cap="none" strike="noStrike"/>
          </a:p>
        </p:txBody>
      </p:sp>
      <p:sp>
        <p:nvSpPr>
          <p:cNvPr id="118" name="Google Shape;118;p4"/>
          <p:cNvSpPr/>
          <p:nvPr/>
        </p:nvSpPr>
        <p:spPr>
          <a:xfrm>
            <a:off x="835560" y="3144600"/>
            <a:ext cx="4547520" cy="685440"/>
          </a:xfrm>
          <a:prstGeom prst="rect">
            <a:avLst/>
          </a:prstGeom>
          <a:noFill/>
          <a:ln>
            <a:noFill/>
          </a:ln>
        </p:spPr>
        <p:txBody>
          <a:bodyPr anchorCtr="0" anchor="t" bIns="0" lIns="0" spcFirstLastPara="1" rIns="0" wrap="square" tIns="0">
            <a:normAutofit/>
          </a:bodyPr>
          <a:lstStyle/>
          <a:p>
            <a:pPr indent="-355600" lvl="0" marL="457200" marR="0" rtl="0" algn="l">
              <a:lnSpc>
                <a:spcPct val="129950"/>
              </a:lnSpc>
              <a:spcBef>
                <a:spcPts val="0"/>
              </a:spcBef>
              <a:spcAft>
                <a:spcPts val="0"/>
              </a:spcAft>
              <a:buClr>
                <a:srgbClr val="000000"/>
              </a:buClr>
              <a:buSzPts val="2000"/>
              <a:buChar char="●"/>
            </a:pPr>
            <a:r>
              <a:rPr i="0" lang="en-US" sz="2000" u="none" cap="none" strike="noStrike">
                <a:solidFill>
                  <a:srgbClr val="000000"/>
                </a:solidFill>
              </a:rPr>
              <a:t>Encoders ResNet50, ResNet101 e EfficientNetB0</a:t>
            </a:r>
            <a:endParaRPr i="0" sz="2000" u="none" cap="none" strike="noStrike"/>
          </a:p>
        </p:txBody>
      </p:sp>
      <p:sp>
        <p:nvSpPr>
          <p:cNvPr id="119" name="Google Shape;119;p4"/>
          <p:cNvSpPr/>
          <p:nvPr/>
        </p:nvSpPr>
        <p:spPr>
          <a:xfrm>
            <a:off x="835560" y="3982680"/>
            <a:ext cx="4547520" cy="685440"/>
          </a:xfrm>
          <a:prstGeom prst="rect">
            <a:avLst/>
          </a:prstGeom>
          <a:noFill/>
          <a:ln>
            <a:noFill/>
          </a:ln>
        </p:spPr>
        <p:txBody>
          <a:bodyPr anchorCtr="0" anchor="t" bIns="0" lIns="0" spcFirstLastPara="1" rIns="0" wrap="square" tIns="0">
            <a:normAutofit/>
          </a:bodyPr>
          <a:lstStyle/>
          <a:p>
            <a:pPr indent="-355600" lvl="0" marL="457200" marR="0" rtl="0" algn="l">
              <a:lnSpc>
                <a:spcPct val="129950"/>
              </a:lnSpc>
              <a:spcBef>
                <a:spcPts val="0"/>
              </a:spcBef>
              <a:spcAft>
                <a:spcPts val="0"/>
              </a:spcAft>
              <a:buClr>
                <a:srgbClr val="000000"/>
              </a:buClr>
              <a:buSzPts val="2000"/>
              <a:buChar char="●"/>
            </a:pPr>
            <a:r>
              <a:rPr i="0" lang="en-US" sz="2000" u="none" cap="none" strike="noStrike">
                <a:solidFill>
                  <a:srgbClr val="000000"/>
                </a:solidFill>
              </a:rPr>
              <a:t>Pesos da ImageNet, ajustados no treino</a:t>
            </a:r>
            <a:endParaRPr i="0" sz="2000" u="none" cap="none" strike="noStrike"/>
          </a:p>
        </p:txBody>
      </p:sp>
      <p:pic>
        <p:nvPicPr>
          <p:cNvPr descr="Arquitetura original da U-Net: caminho de contração à esquerda descendo até a base, caminho de expansão à direita subindo, e setas horizontais que copiam os mapas do encoder para o decoder" id="120" name="Google Shape;120;p4"/>
          <p:cNvPicPr preferRelativeResize="0"/>
          <p:nvPr/>
        </p:nvPicPr>
        <p:blipFill rotWithShape="1">
          <a:blip r:embed="rId3">
            <a:alphaModFix/>
          </a:blip>
          <a:srcRect b="-3018" l="0" r="0" t="-3018"/>
          <a:stretch/>
        </p:blipFill>
        <p:spPr>
          <a:xfrm>
            <a:off x="5664240" y="1671120"/>
            <a:ext cx="5714640" cy="3936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5"/>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Métricas e Loss</a:t>
            </a:r>
            <a:endParaRPr b="0" i="0" sz="3600" u="none" cap="none" strike="noStrike">
              <a:solidFill>
                <a:srgbClr val="000000"/>
              </a:solidFill>
              <a:latin typeface="IBM Plex Sans"/>
              <a:ea typeface="IBM Plex Sans"/>
              <a:cs typeface="IBM Plex Sans"/>
              <a:sym typeface="IBM Plex Sans"/>
            </a:endParaRPr>
          </a:p>
        </p:txBody>
      </p:sp>
      <p:pic>
        <p:nvPicPr>
          <p:cNvPr descr="Caneta com duas caixas retangulares, uma verde e uma vermelha, que se sobrepõem em parte" id="127" name="Google Shape;127;p5"/>
          <p:cNvPicPr preferRelativeResize="0"/>
          <p:nvPr/>
        </p:nvPicPr>
        <p:blipFill rotWithShape="1">
          <a:blip r:embed="rId3">
            <a:alphaModFix/>
          </a:blip>
          <a:srcRect b="0" l="-2116" r="-2116" t="0"/>
          <a:stretch/>
        </p:blipFill>
        <p:spPr>
          <a:xfrm>
            <a:off x="812880" y="1569600"/>
            <a:ext cx="1777680" cy="4190760"/>
          </a:xfrm>
          <a:prstGeom prst="rect">
            <a:avLst/>
          </a:prstGeom>
          <a:noFill/>
          <a:ln>
            <a:noFill/>
          </a:ln>
        </p:spPr>
      </p:pic>
      <p:sp>
        <p:nvSpPr>
          <p:cNvPr id="128" name="Google Shape;128;p5"/>
          <p:cNvSpPr/>
          <p:nvPr/>
        </p:nvSpPr>
        <p:spPr>
          <a:xfrm>
            <a:off x="3209040" y="2634120"/>
            <a:ext cx="8407440" cy="38808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SzPts val="2200"/>
              <a:buChar char="●"/>
            </a:pPr>
            <a:r>
              <a:rPr i="0" lang="en-US" sz="2200" u="none" cap="none" strike="noStrike">
                <a:solidFill>
                  <a:srgbClr val="000000"/>
                </a:solidFill>
              </a:rPr>
              <a:t>IoU</a:t>
            </a:r>
            <a:r>
              <a:rPr lang="en-US" sz="2200"/>
              <a:t> na validação</a:t>
            </a:r>
            <a:endParaRPr i="0" sz="2200" u="none" cap="none" strike="noStrike"/>
          </a:p>
        </p:txBody>
      </p:sp>
      <p:sp>
        <p:nvSpPr>
          <p:cNvPr id="129" name="Google Shape;129;p5"/>
          <p:cNvSpPr/>
          <p:nvPr/>
        </p:nvSpPr>
        <p:spPr>
          <a:xfrm>
            <a:off x="3209040" y="3200400"/>
            <a:ext cx="8407440" cy="38808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SzPts val="2200"/>
              <a:buChar char="●"/>
            </a:pPr>
            <a:r>
              <a:rPr i="0" lang="en-US" sz="2200" u="none" cap="none" strike="noStrike">
                <a:solidFill>
                  <a:srgbClr val="000000"/>
                </a:solidFill>
              </a:rPr>
              <a:t>Acurácia e F1-score</a:t>
            </a:r>
            <a:r>
              <a:rPr lang="en-US" sz="2200"/>
              <a:t> </a:t>
            </a:r>
            <a:r>
              <a:rPr i="0" lang="en-US" sz="2200" u="none" cap="none" strike="noStrike">
                <a:solidFill>
                  <a:srgbClr val="000000"/>
                </a:solidFill>
              </a:rPr>
              <a:t>teste</a:t>
            </a:r>
            <a:endParaRPr i="0" sz="2200" u="none" cap="none" strike="noStrike"/>
          </a:p>
        </p:txBody>
      </p:sp>
      <p:sp>
        <p:nvSpPr>
          <p:cNvPr id="130" name="Google Shape;130;p5"/>
          <p:cNvSpPr/>
          <p:nvPr/>
        </p:nvSpPr>
        <p:spPr>
          <a:xfrm>
            <a:off x="3209050" y="3766667"/>
            <a:ext cx="8407500" cy="103890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SzPts val="2200"/>
              <a:buChar char="●"/>
            </a:pPr>
            <a:r>
              <a:rPr i="0" lang="en-US" sz="2200" u="none" cap="none" strike="noStrike">
                <a:solidFill>
                  <a:srgbClr val="000000"/>
                </a:solidFill>
              </a:rPr>
              <a:t>Loss: SparseCategoricalCrossEntropy e </a:t>
            </a:r>
            <a:r>
              <a:rPr lang="en-US" sz="2200">
                <a:solidFill>
                  <a:schemeClr val="dk1"/>
                </a:solidFill>
              </a:rPr>
              <a:t>Dice + SparseCategoricalCrossEntropy</a:t>
            </a:r>
            <a:endParaRPr sz="2200">
              <a:solidFill>
                <a:schemeClr val="dk1"/>
              </a:solidFill>
            </a:endParaRPr>
          </a:p>
          <a:p>
            <a:pPr indent="0" lvl="0" marL="457200" marR="0" rtl="0" algn="l">
              <a:lnSpc>
                <a:spcPct val="130000"/>
              </a:lnSpc>
              <a:spcBef>
                <a:spcPts val="0"/>
              </a:spcBef>
              <a:spcAft>
                <a:spcPts val="0"/>
              </a:spcAft>
              <a:buNone/>
            </a:pPr>
            <a:r>
              <a:t/>
            </a:r>
            <a:endParaRPr sz="2200"/>
          </a:p>
        </p:txBody>
      </p:sp>
      <p:sp>
        <p:nvSpPr>
          <p:cNvPr id="131" name="Google Shape;131;p5"/>
          <p:cNvSpPr/>
          <p:nvPr/>
        </p:nvSpPr>
        <p:spPr>
          <a:xfrm>
            <a:off x="3209040" y="4332960"/>
            <a:ext cx="8407440" cy="3880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None/>
            </a:pPr>
            <a:r>
              <a:t/>
            </a:r>
            <a:endParaRPr b="0" i="0" sz="2200" u="none" cap="none"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6"/>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Resultados</a:t>
            </a:r>
            <a:endParaRPr b="0" i="0" sz="3600" u="none" cap="none" strike="noStrike">
              <a:solidFill>
                <a:srgbClr val="000000"/>
              </a:solidFill>
              <a:latin typeface="IBM Plex Sans"/>
              <a:ea typeface="IBM Plex Sans"/>
              <a:cs typeface="IBM Plex Sans"/>
              <a:sym typeface="IBM Plex Sans"/>
            </a:endParaRPr>
          </a:p>
        </p:txBody>
      </p:sp>
      <p:sp>
        <p:nvSpPr>
          <p:cNvPr id="138" name="Google Shape;138;p6"/>
          <p:cNvSpPr/>
          <p:nvPr/>
        </p:nvSpPr>
        <p:spPr>
          <a:xfrm>
            <a:off x="547350" y="1865550"/>
            <a:ext cx="11097300" cy="3735900"/>
          </a:xfrm>
          <a:prstGeom prst="rect">
            <a:avLst/>
          </a:prstGeom>
          <a:noFill/>
          <a:ln cap="flat" cmpd="sng" w="20050">
            <a:solidFill>
              <a:srgbClr val="000000"/>
            </a:solidFill>
            <a:prstDash val="solid"/>
            <a:round/>
            <a:headEnd len="sm" w="sm" type="none"/>
            <a:tailEnd len="sm" w="sm" type="none"/>
          </a:ln>
        </p:spPr>
        <p:txBody>
          <a:bodyPr anchorCtr="0" anchor="ctr" bIns="96200" lIns="96200" spcFirstLastPara="1" rIns="96200" wrap="square" tIns="96200">
            <a:noAutofit/>
          </a:bodyPr>
          <a:lstStyle/>
          <a:p>
            <a:pPr indent="0" lvl="0" marL="0" rtl="0" algn="l">
              <a:spcBef>
                <a:spcPts val="0"/>
              </a:spcBef>
              <a:spcAft>
                <a:spcPts val="0"/>
              </a:spcAft>
              <a:buNone/>
            </a:pPr>
            <a:r>
              <a:t/>
            </a:r>
            <a:endParaRPr/>
          </a:p>
        </p:txBody>
      </p:sp>
      <p:sp>
        <p:nvSpPr>
          <p:cNvPr id="139" name="Google Shape;139;p6"/>
          <p:cNvSpPr/>
          <p:nvPr/>
        </p:nvSpPr>
        <p:spPr>
          <a:xfrm>
            <a:off x="664396" y="1906486"/>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Modelo</a:t>
            </a:r>
            <a:endParaRPr b="0" i="0" sz="1473" u="none" cap="none" strike="noStrike">
              <a:latin typeface="Arial"/>
              <a:ea typeface="Arial"/>
              <a:cs typeface="Arial"/>
              <a:sym typeface="Arial"/>
            </a:endParaRPr>
          </a:p>
        </p:txBody>
      </p:sp>
      <p:cxnSp>
        <p:nvCxnSpPr>
          <p:cNvPr id="140" name="Google Shape;140;p6"/>
          <p:cNvCxnSpPr/>
          <p:nvPr/>
        </p:nvCxnSpPr>
        <p:spPr>
          <a:xfrm>
            <a:off x="6580711" y="1876523"/>
            <a:ext cx="300" cy="351300"/>
          </a:xfrm>
          <a:prstGeom prst="straightConnector1">
            <a:avLst/>
          </a:prstGeom>
          <a:noFill/>
          <a:ln cap="flat" cmpd="sng" w="20050">
            <a:solidFill>
              <a:srgbClr val="000000"/>
            </a:solidFill>
            <a:prstDash val="solid"/>
            <a:round/>
            <a:headEnd len="sm" w="sm" type="none"/>
            <a:tailEnd len="sm" w="sm" type="none"/>
          </a:ln>
        </p:spPr>
      </p:cxnSp>
      <p:sp>
        <p:nvSpPr>
          <p:cNvPr id="141" name="Google Shape;141;p6"/>
          <p:cNvSpPr/>
          <p:nvPr/>
        </p:nvSpPr>
        <p:spPr>
          <a:xfrm>
            <a:off x="6644348" y="1906486"/>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IoU médio</a:t>
            </a:r>
            <a:endParaRPr b="0" i="0" sz="1473" u="none" cap="none" strike="noStrike">
              <a:latin typeface="Arial"/>
              <a:ea typeface="Arial"/>
              <a:cs typeface="Arial"/>
              <a:sym typeface="Arial"/>
            </a:endParaRPr>
          </a:p>
        </p:txBody>
      </p:sp>
      <p:cxnSp>
        <p:nvCxnSpPr>
          <p:cNvPr id="142" name="Google Shape;142;p6"/>
          <p:cNvCxnSpPr/>
          <p:nvPr/>
        </p:nvCxnSpPr>
        <p:spPr>
          <a:xfrm>
            <a:off x="8264431" y="1876523"/>
            <a:ext cx="300" cy="351300"/>
          </a:xfrm>
          <a:prstGeom prst="straightConnector1">
            <a:avLst/>
          </a:prstGeom>
          <a:noFill/>
          <a:ln cap="flat" cmpd="sng" w="20050">
            <a:solidFill>
              <a:srgbClr val="000000"/>
            </a:solidFill>
            <a:prstDash val="solid"/>
            <a:round/>
            <a:headEnd len="sm" w="sm" type="none"/>
            <a:tailEnd len="sm" w="sm" type="none"/>
          </a:ln>
        </p:spPr>
      </p:cxnSp>
      <p:sp>
        <p:nvSpPr>
          <p:cNvPr id="143" name="Google Shape;143;p6"/>
          <p:cNvSpPr/>
          <p:nvPr/>
        </p:nvSpPr>
        <p:spPr>
          <a:xfrm>
            <a:off x="8328068" y="1906486"/>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Acurácia</a:t>
            </a:r>
            <a:endParaRPr b="0" i="0" sz="1473" u="none" cap="none" strike="noStrike">
              <a:latin typeface="Arial"/>
              <a:ea typeface="Arial"/>
              <a:cs typeface="Arial"/>
              <a:sym typeface="Arial"/>
            </a:endParaRPr>
          </a:p>
        </p:txBody>
      </p:sp>
      <p:cxnSp>
        <p:nvCxnSpPr>
          <p:cNvPr id="144" name="Google Shape;144;p6"/>
          <p:cNvCxnSpPr/>
          <p:nvPr/>
        </p:nvCxnSpPr>
        <p:spPr>
          <a:xfrm>
            <a:off x="9954591" y="1876523"/>
            <a:ext cx="300" cy="351300"/>
          </a:xfrm>
          <a:prstGeom prst="straightConnector1">
            <a:avLst/>
          </a:prstGeom>
          <a:noFill/>
          <a:ln cap="flat" cmpd="sng" w="20050">
            <a:solidFill>
              <a:srgbClr val="000000"/>
            </a:solidFill>
            <a:prstDash val="solid"/>
            <a:round/>
            <a:headEnd len="sm" w="sm" type="none"/>
            <a:tailEnd len="sm" w="sm" type="none"/>
          </a:ln>
        </p:spPr>
      </p:cxnSp>
      <p:sp>
        <p:nvSpPr>
          <p:cNvPr id="145" name="Google Shape;145;p6"/>
          <p:cNvSpPr/>
          <p:nvPr/>
        </p:nvSpPr>
        <p:spPr>
          <a:xfrm>
            <a:off x="10018227" y="1906486"/>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F1 macro</a:t>
            </a:r>
            <a:endParaRPr b="0" i="0" sz="1473" u="none" cap="none" strike="noStrike">
              <a:latin typeface="Arial"/>
              <a:ea typeface="Arial"/>
              <a:cs typeface="Arial"/>
              <a:sym typeface="Arial"/>
            </a:endParaRPr>
          </a:p>
        </p:txBody>
      </p:sp>
      <p:cxnSp>
        <p:nvCxnSpPr>
          <p:cNvPr id="146" name="Google Shape;146;p6"/>
          <p:cNvCxnSpPr/>
          <p:nvPr/>
        </p:nvCxnSpPr>
        <p:spPr>
          <a:xfrm>
            <a:off x="557199" y="2239038"/>
            <a:ext cx="11077800" cy="300"/>
          </a:xfrm>
          <a:prstGeom prst="straightConnector1">
            <a:avLst/>
          </a:prstGeom>
          <a:noFill/>
          <a:ln cap="flat" cmpd="sng" w="20050">
            <a:solidFill>
              <a:srgbClr val="000000"/>
            </a:solidFill>
            <a:prstDash val="solid"/>
            <a:round/>
            <a:headEnd len="sm" w="sm" type="none"/>
            <a:tailEnd len="sm" w="sm" type="none"/>
          </a:ln>
        </p:spPr>
      </p:cxnSp>
      <p:sp>
        <p:nvSpPr>
          <p:cNvPr id="147" name="Google Shape;147;p6"/>
          <p:cNvSpPr/>
          <p:nvPr/>
        </p:nvSpPr>
        <p:spPr>
          <a:xfrm>
            <a:off x="664396" y="2279973"/>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U-Net, SparseCategoricalCrossEntropy</a:t>
            </a:r>
            <a:endParaRPr b="0" i="0" sz="1473" u="none" cap="none" strike="noStrike">
              <a:latin typeface="Arial"/>
              <a:ea typeface="Arial"/>
              <a:cs typeface="Arial"/>
              <a:sym typeface="Arial"/>
            </a:endParaRPr>
          </a:p>
        </p:txBody>
      </p:sp>
      <p:cxnSp>
        <p:nvCxnSpPr>
          <p:cNvPr id="148" name="Google Shape;148;p6"/>
          <p:cNvCxnSpPr/>
          <p:nvPr/>
        </p:nvCxnSpPr>
        <p:spPr>
          <a:xfrm>
            <a:off x="6580711" y="2250010"/>
            <a:ext cx="300" cy="351300"/>
          </a:xfrm>
          <a:prstGeom prst="straightConnector1">
            <a:avLst/>
          </a:prstGeom>
          <a:noFill/>
          <a:ln cap="flat" cmpd="sng" w="20050">
            <a:solidFill>
              <a:srgbClr val="000000"/>
            </a:solidFill>
            <a:prstDash val="solid"/>
            <a:round/>
            <a:headEnd len="sm" w="sm" type="none"/>
            <a:tailEnd len="sm" w="sm" type="none"/>
          </a:ln>
        </p:spPr>
      </p:cxnSp>
      <p:sp>
        <p:nvSpPr>
          <p:cNvPr id="149" name="Google Shape;149;p6"/>
          <p:cNvSpPr/>
          <p:nvPr/>
        </p:nvSpPr>
        <p:spPr>
          <a:xfrm>
            <a:off x="6644348" y="2279973"/>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0,73</a:t>
            </a:r>
            <a:endParaRPr b="0" i="0" sz="1473" u="none" cap="none" strike="noStrike">
              <a:latin typeface="Arial"/>
              <a:ea typeface="Arial"/>
              <a:cs typeface="Arial"/>
              <a:sym typeface="Arial"/>
            </a:endParaRPr>
          </a:p>
        </p:txBody>
      </p:sp>
      <p:cxnSp>
        <p:nvCxnSpPr>
          <p:cNvPr id="150" name="Google Shape;150;p6"/>
          <p:cNvCxnSpPr/>
          <p:nvPr/>
        </p:nvCxnSpPr>
        <p:spPr>
          <a:xfrm>
            <a:off x="8264431" y="2250010"/>
            <a:ext cx="300" cy="351300"/>
          </a:xfrm>
          <a:prstGeom prst="straightConnector1">
            <a:avLst/>
          </a:prstGeom>
          <a:noFill/>
          <a:ln cap="flat" cmpd="sng" w="20050">
            <a:solidFill>
              <a:srgbClr val="000000"/>
            </a:solidFill>
            <a:prstDash val="solid"/>
            <a:round/>
            <a:headEnd len="sm" w="sm" type="none"/>
            <a:tailEnd len="sm" w="sm" type="none"/>
          </a:ln>
        </p:spPr>
      </p:cxnSp>
      <p:sp>
        <p:nvSpPr>
          <p:cNvPr id="151" name="Google Shape;151;p6"/>
          <p:cNvSpPr/>
          <p:nvPr/>
        </p:nvSpPr>
        <p:spPr>
          <a:xfrm>
            <a:off x="8328068" y="2279973"/>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0,47</a:t>
            </a:r>
            <a:endParaRPr b="0" i="0" sz="1473" u="none" cap="none" strike="noStrike">
              <a:latin typeface="Arial"/>
              <a:ea typeface="Arial"/>
              <a:cs typeface="Arial"/>
              <a:sym typeface="Arial"/>
            </a:endParaRPr>
          </a:p>
        </p:txBody>
      </p:sp>
      <p:cxnSp>
        <p:nvCxnSpPr>
          <p:cNvPr id="152" name="Google Shape;152;p6"/>
          <p:cNvCxnSpPr/>
          <p:nvPr/>
        </p:nvCxnSpPr>
        <p:spPr>
          <a:xfrm>
            <a:off x="9954591" y="2250010"/>
            <a:ext cx="300" cy="351300"/>
          </a:xfrm>
          <a:prstGeom prst="straightConnector1">
            <a:avLst/>
          </a:prstGeom>
          <a:noFill/>
          <a:ln cap="flat" cmpd="sng" w="20050">
            <a:solidFill>
              <a:srgbClr val="000000"/>
            </a:solidFill>
            <a:prstDash val="solid"/>
            <a:round/>
            <a:headEnd len="sm" w="sm" type="none"/>
            <a:tailEnd len="sm" w="sm" type="none"/>
          </a:ln>
        </p:spPr>
      </p:cxnSp>
      <p:sp>
        <p:nvSpPr>
          <p:cNvPr id="153" name="Google Shape;153;p6"/>
          <p:cNvSpPr/>
          <p:nvPr/>
        </p:nvSpPr>
        <p:spPr>
          <a:xfrm>
            <a:off x="10018227" y="2279973"/>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0,54</a:t>
            </a:r>
            <a:endParaRPr b="0" i="0" sz="1473" u="none" cap="none" strike="noStrike">
              <a:latin typeface="Arial"/>
              <a:ea typeface="Arial"/>
              <a:cs typeface="Arial"/>
              <a:sym typeface="Arial"/>
            </a:endParaRPr>
          </a:p>
        </p:txBody>
      </p:sp>
      <p:cxnSp>
        <p:nvCxnSpPr>
          <p:cNvPr id="154" name="Google Shape;154;p6"/>
          <p:cNvCxnSpPr/>
          <p:nvPr/>
        </p:nvCxnSpPr>
        <p:spPr>
          <a:xfrm>
            <a:off x="557199" y="2612525"/>
            <a:ext cx="11077800" cy="300"/>
          </a:xfrm>
          <a:prstGeom prst="straightConnector1">
            <a:avLst/>
          </a:prstGeom>
          <a:noFill/>
          <a:ln cap="flat" cmpd="sng" w="20050">
            <a:solidFill>
              <a:srgbClr val="000000"/>
            </a:solidFill>
            <a:prstDash val="solid"/>
            <a:round/>
            <a:headEnd len="sm" w="sm" type="none"/>
            <a:tailEnd len="sm" w="sm" type="none"/>
          </a:ln>
        </p:spPr>
      </p:cxnSp>
      <p:sp>
        <p:nvSpPr>
          <p:cNvPr id="155" name="Google Shape;155;p6"/>
          <p:cNvSpPr/>
          <p:nvPr/>
        </p:nvSpPr>
        <p:spPr>
          <a:xfrm>
            <a:off x="664396" y="2653461"/>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U-Net, Dice e SparseCategoricalCrossEntropy</a:t>
            </a:r>
            <a:endParaRPr b="0" i="0" sz="1473" u="none" cap="none" strike="noStrike">
              <a:latin typeface="Arial"/>
              <a:ea typeface="Arial"/>
              <a:cs typeface="Arial"/>
              <a:sym typeface="Arial"/>
            </a:endParaRPr>
          </a:p>
        </p:txBody>
      </p:sp>
      <p:cxnSp>
        <p:nvCxnSpPr>
          <p:cNvPr id="156" name="Google Shape;156;p6"/>
          <p:cNvCxnSpPr/>
          <p:nvPr/>
        </p:nvCxnSpPr>
        <p:spPr>
          <a:xfrm>
            <a:off x="6580711" y="2623498"/>
            <a:ext cx="300" cy="351600"/>
          </a:xfrm>
          <a:prstGeom prst="straightConnector1">
            <a:avLst/>
          </a:prstGeom>
          <a:noFill/>
          <a:ln cap="flat" cmpd="sng" w="20050">
            <a:solidFill>
              <a:srgbClr val="000000"/>
            </a:solidFill>
            <a:prstDash val="solid"/>
            <a:round/>
            <a:headEnd len="sm" w="sm" type="none"/>
            <a:tailEnd len="sm" w="sm" type="none"/>
          </a:ln>
        </p:spPr>
      </p:cxnSp>
      <p:sp>
        <p:nvSpPr>
          <p:cNvPr id="157" name="Google Shape;157;p6"/>
          <p:cNvSpPr/>
          <p:nvPr/>
        </p:nvSpPr>
        <p:spPr>
          <a:xfrm>
            <a:off x="6644348" y="2653461"/>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0,73</a:t>
            </a:r>
            <a:endParaRPr b="0" i="0" sz="1473" u="none" cap="none" strike="noStrike">
              <a:latin typeface="Arial"/>
              <a:ea typeface="Arial"/>
              <a:cs typeface="Arial"/>
              <a:sym typeface="Arial"/>
            </a:endParaRPr>
          </a:p>
        </p:txBody>
      </p:sp>
      <p:cxnSp>
        <p:nvCxnSpPr>
          <p:cNvPr id="158" name="Google Shape;158;p6"/>
          <p:cNvCxnSpPr/>
          <p:nvPr/>
        </p:nvCxnSpPr>
        <p:spPr>
          <a:xfrm>
            <a:off x="8264431" y="2623498"/>
            <a:ext cx="300" cy="351600"/>
          </a:xfrm>
          <a:prstGeom prst="straightConnector1">
            <a:avLst/>
          </a:prstGeom>
          <a:noFill/>
          <a:ln cap="flat" cmpd="sng" w="20050">
            <a:solidFill>
              <a:srgbClr val="000000"/>
            </a:solidFill>
            <a:prstDash val="solid"/>
            <a:round/>
            <a:headEnd len="sm" w="sm" type="none"/>
            <a:tailEnd len="sm" w="sm" type="none"/>
          </a:ln>
        </p:spPr>
      </p:cxnSp>
      <p:sp>
        <p:nvSpPr>
          <p:cNvPr id="159" name="Google Shape;159;p6"/>
          <p:cNvSpPr/>
          <p:nvPr/>
        </p:nvSpPr>
        <p:spPr>
          <a:xfrm>
            <a:off x="8328068" y="2653461"/>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0,44</a:t>
            </a:r>
            <a:endParaRPr b="0" i="0" sz="1473" u="none" cap="none" strike="noStrike">
              <a:latin typeface="Arial"/>
              <a:ea typeface="Arial"/>
              <a:cs typeface="Arial"/>
              <a:sym typeface="Arial"/>
            </a:endParaRPr>
          </a:p>
        </p:txBody>
      </p:sp>
      <p:cxnSp>
        <p:nvCxnSpPr>
          <p:cNvPr id="160" name="Google Shape;160;p6"/>
          <p:cNvCxnSpPr/>
          <p:nvPr/>
        </p:nvCxnSpPr>
        <p:spPr>
          <a:xfrm>
            <a:off x="9954591" y="2623498"/>
            <a:ext cx="300" cy="351600"/>
          </a:xfrm>
          <a:prstGeom prst="straightConnector1">
            <a:avLst/>
          </a:prstGeom>
          <a:noFill/>
          <a:ln cap="flat" cmpd="sng" w="20050">
            <a:solidFill>
              <a:srgbClr val="000000"/>
            </a:solidFill>
            <a:prstDash val="solid"/>
            <a:round/>
            <a:headEnd len="sm" w="sm" type="none"/>
            <a:tailEnd len="sm" w="sm" type="none"/>
          </a:ln>
        </p:spPr>
      </p:cxnSp>
      <p:sp>
        <p:nvSpPr>
          <p:cNvPr id="161" name="Google Shape;161;p6"/>
          <p:cNvSpPr/>
          <p:nvPr/>
        </p:nvSpPr>
        <p:spPr>
          <a:xfrm>
            <a:off x="10018227" y="2653461"/>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0,47</a:t>
            </a:r>
            <a:endParaRPr b="0" i="0" sz="1473" u="none" cap="none" strike="noStrike">
              <a:latin typeface="Arial"/>
              <a:ea typeface="Arial"/>
              <a:cs typeface="Arial"/>
              <a:sym typeface="Arial"/>
            </a:endParaRPr>
          </a:p>
        </p:txBody>
      </p:sp>
      <p:cxnSp>
        <p:nvCxnSpPr>
          <p:cNvPr id="162" name="Google Shape;162;p6"/>
          <p:cNvCxnSpPr/>
          <p:nvPr/>
        </p:nvCxnSpPr>
        <p:spPr>
          <a:xfrm>
            <a:off x="557199" y="2986013"/>
            <a:ext cx="11077800" cy="300"/>
          </a:xfrm>
          <a:prstGeom prst="straightConnector1">
            <a:avLst/>
          </a:prstGeom>
          <a:noFill/>
          <a:ln cap="flat" cmpd="sng" w="20050">
            <a:solidFill>
              <a:srgbClr val="000000"/>
            </a:solidFill>
            <a:prstDash val="solid"/>
            <a:round/>
            <a:headEnd len="sm" w="sm" type="none"/>
            <a:tailEnd len="sm" w="sm" type="none"/>
          </a:ln>
        </p:spPr>
      </p:cxnSp>
      <p:sp>
        <p:nvSpPr>
          <p:cNvPr id="163" name="Google Shape;163;p6"/>
          <p:cNvSpPr/>
          <p:nvPr/>
        </p:nvSpPr>
        <p:spPr>
          <a:xfrm>
            <a:off x="664396" y="3027371"/>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ResNet50, SparseCategoricalCrossEntropy</a:t>
            </a:r>
            <a:endParaRPr b="0" i="0" sz="1473" u="none" cap="none" strike="noStrike">
              <a:latin typeface="Arial"/>
              <a:ea typeface="Arial"/>
              <a:cs typeface="Arial"/>
              <a:sym typeface="Arial"/>
            </a:endParaRPr>
          </a:p>
        </p:txBody>
      </p:sp>
      <p:cxnSp>
        <p:nvCxnSpPr>
          <p:cNvPr id="164" name="Google Shape;164;p6"/>
          <p:cNvCxnSpPr/>
          <p:nvPr/>
        </p:nvCxnSpPr>
        <p:spPr>
          <a:xfrm>
            <a:off x="6580711" y="2997407"/>
            <a:ext cx="300" cy="351300"/>
          </a:xfrm>
          <a:prstGeom prst="straightConnector1">
            <a:avLst/>
          </a:prstGeom>
          <a:noFill/>
          <a:ln cap="flat" cmpd="sng" w="20050">
            <a:solidFill>
              <a:srgbClr val="000000"/>
            </a:solidFill>
            <a:prstDash val="solid"/>
            <a:round/>
            <a:headEnd len="sm" w="sm" type="none"/>
            <a:tailEnd len="sm" w="sm" type="none"/>
          </a:ln>
        </p:spPr>
      </p:cxnSp>
      <p:sp>
        <p:nvSpPr>
          <p:cNvPr id="165" name="Google Shape;165;p6"/>
          <p:cNvSpPr/>
          <p:nvPr/>
        </p:nvSpPr>
        <p:spPr>
          <a:xfrm>
            <a:off x="6644348" y="3027371"/>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0,72</a:t>
            </a:r>
            <a:endParaRPr b="0" i="0" sz="1473" u="none" cap="none" strike="noStrike">
              <a:latin typeface="Arial"/>
              <a:ea typeface="Arial"/>
              <a:cs typeface="Arial"/>
              <a:sym typeface="Arial"/>
            </a:endParaRPr>
          </a:p>
        </p:txBody>
      </p:sp>
      <p:cxnSp>
        <p:nvCxnSpPr>
          <p:cNvPr id="166" name="Google Shape;166;p6"/>
          <p:cNvCxnSpPr/>
          <p:nvPr/>
        </p:nvCxnSpPr>
        <p:spPr>
          <a:xfrm>
            <a:off x="8264431" y="2997407"/>
            <a:ext cx="300" cy="351300"/>
          </a:xfrm>
          <a:prstGeom prst="straightConnector1">
            <a:avLst/>
          </a:prstGeom>
          <a:noFill/>
          <a:ln cap="flat" cmpd="sng" w="20050">
            <a:solidFill>
              <a:srgbClr val="000000"/>
            </a:solidFill>
            <a:prstDash val="solid"/>
            <a:round/>
            <a:headEnd len="sm" w="sm" type="none"/>
            <a:tailEnd len="sm" w="sm" type="none"/>
          </a:ln>
        </p:spPr>
      </p:cxnSp>
      <p:sp>
        <p:nvSpPr>
          <p:cNvPr id="167" name="Google Shape;167;p6"/>
          <p:cNvSpPr/>
          <p:nvPr/>
        </p:nvSpPr>
        <p:spPr>
          <a:xfrm>
            <a:off x="8328068" y="3027371"/>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0,59</a:t>
            </a:r>
            <a:endParaRPr b="0" i="0" sz="1473" u="none" cap="none" strike="noStrike">
              <a:latin typeface="Arial"/>
              <a:ea typeface="Arial"/>
              <a:cs typeface="Arial"/>
              <a:sym typeface="Arial"/>
            </a:endParaRPr>
          </a:p>
        </p:txBody>
      </p:sp>
      <p:cxnSp>
        <p:nvCxnSpPr>
          <p:cNvPr id="168" name="Google Shape;168;p6"/>
          <p:cNvCxnSpPr/>
          <p:nvPr/>
        </p:nvCxnSpPr>
        <p:spPr>
          <a:xfrm>
            <a:off x="9954591" y="2997407"/>
            <a:ext cx="300" cy="351300"/>
          </a:xfrm>
          <a:prstGeom prst="straightConnector1">
            <a:avLst/>
          </a:prstGeom>
          <a:noFill/>
          <a:ln cap="flat" cmpd="sng" w="20050">
            <a:solidFill>
              <a:srgbClr val="000000"/>
            </a:solidFill>
            <a:prstDash val="solid"/>
            <a:round/>
            <a:headEnd len="sm" w="sm" type="none"/>
            <a:tailEnd len="sm" w="sm" type="none"/>
          </a:ln>
        </p:spPr>
      </p:cxnSp>
      <p:sp>
        <p:nvSpPr>
          <p:cNvPr id="169" name="Google Shape;169;p6"/>
          <p:cNvSpPr/>
          <p:nvPr/>
        </p:nvSpPr>
        <p:spPr>
          <a:xfrm>
            <a:off x="10018227" y="3027371"/>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1" i="0" lang="en-US" sz="1473" u="none" cap="none" strike="noStrike">
                <a:solidFill>
                  <a:srgbClr val="000000"/>
                </a:solidFill>
                <a:latin typeface="IBM Plex Sans"/>
                <a:ea typeface="IBM Plex Sans"/>
                <a:cs typeface="IBM Plex Sans"/>
                <a:sym typeface="IBM Plex Sans"/>
              </a:rPr>
              <a:t>0,62</a:t>
            </a:r>
            <a:endParaRPr b="0" i="0" sz="1473" u="none" cap="none" strike="noStrike">
              <a:latin typeface="Arial"/>
              <a:ea typeface="Arial"/>
              <a:cs typeface="Arial"/>
              <a:sym typeface="Arial"/>
            </a:endParaRPr>
          </a:p>
        </p:txBody>
      </p:sp>
      <p:cxnSp>
        <p:nvCxnSpPr>
          <p:cNvPr id="170" name="Google Shape;170;p6"/>
          <p:cNvCxnSpPr/>
          <p:nvPr/>
        </p:nvCxnSpPr>
        <p:spPr>
          <a:xfrm>
            <a:off x="557199" y="3359500"/>
            <a:ext cx="11077800" cy="300"/>
          </a:xfrm>
          <a:prstGeom prst="straightConnector1">
            <a:avLst/>
          </a:prstGeom>
          <a:noFill/>
          <a:ln cap="flat" cmpd="sng" w="20050">
            <a:solidFill>
              <a:srgbClr val="000000"/>
            </a:solidFill>
            <a:prstDash val="solid"/>
            <a:round/>
            <a:headEnd len="sm" w="sm" type="none"/>
            <a:tailEnd len="sm" w="sm" type="none"/>
          </a:ln>
        </p:spPr>
      </p:cxnSp>
      <p:sp>
        <p:nvSpPr>
          <p:cNvPr id="171" name="Google Shape;171;p6"/>
          <p:cNvSpPr/>
          <p:nvPr/>
        </p:nvSpPr>
        <p:spPr>
          <a:xfrm>
            <a:off x="664396" y="3400858"/>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ResNet50, Dice e SparseCategoricalCrossEntropy</a:t>
            </a:r>
            <a:endParaRPr b="0" i="0" sz="1473" u="none" cap="none" strike="noStrike">
              <a:latin typeface="Arial"/>
              <a:ea typeface="Arial"/>
              <a:cs typeface="Arial"/>
              <a:sym typeface="Arial"/>
            </a:endParaRPr>
          </a:p>
        </p:txBody>
      </p:sp>
      <p:cxnSp>
        <p:nvCxnSpPr>
          <p:cNvPr id="172" name="Google Shape;172;p6"/>
          <p:cNvCxnSpPr/>
          <p:nvPr/>
        </p:nvCxnSpPr>
        <p:spPr>
          <a:xfrm>
            <a:off x="6580711" y="3370895"/>
            <a:ext cx="300" cy="351300"/>
          </a:xfrm>
          <a:prstGeom prst="straightConnector1">
            <a:avLst/>
          </a:prstGeom>
          <a:noFill/>
          <a:ln cap="flat" cmpd="sng" w="20050">
            <a:solidFill>
              <a:srgbClr val="000000"/>
            </a:solidFill>
            <a:prstDash val="solid"/>
            <a:round/>
            <a:headEnd len="sm" w="sm" type="none"/>
            <a:tailEnd len="sm" w="sm" type="none"/>
          </a:ln>
        </p:spPr>
      </p:cxnSp>
      <p:sp>
        <p:nvSpPr>
          <p:cNvPr id="173" name="Google Shape;173;p6"/>
          <p:cNvSpPr/>
          <p:nvPr/>
        </p:nvSpPr>
        <p:spPr>
          <a:xfrm>
            <a:off x="6644348" y="3400858"/>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0,72</a:t>
            </a:r>
            <a:endParaRPr b="0" i="0" sz="1473" u="none" cap="none" strike="noStrike">
              <a:latin typeface="Arial"/>
              <a:ea typeface="Arial"/>
              <a:cs typeface="Arial"/>
              <a:sym typeface="Arial"/>
            </a:endParaRPr>
          </a:p>
        </p:txBody>
      </p:sp>
      <p:cxnSp>
        <p:nvCxnSpPr>
          <p:cNvPr id="174" name="Google Shape;174;p6"/>
          <p:cNvCxnSpPr/>
          <p:nvPr/>
        </p:nvCxnSpPr>
        <p:spPr>
          <a:xfrm>
            <a:off x="8264431" y="3370895"/>
            <a:ext cx="300" cy="351300"/>
          </a:xfrm>
          <a:prstGeom prst="straightConnector1">
            <a:avLst/>
          </a:prstGeom>
          <a:noFill/>
          <a:ln cap="flat" cmpd="sng" w="20050">
            <a:solidFill>
              <a:srgbClr val="000000"/>
            </a:solidFill>
            <a:prstDash val="solid"/>
            <a:round/>
            <a:headEnd len="sm" w="sm" type="none"/>
            <a:tailEnd len="sm" w="sm" type="none"/>
          </a:ln>
        </p:spPr>
      </p:cxnSp>
      <p:sp>
        <p:nvSpPr>
          <p:cNvPr id="175" name="Google Shape;175;p6"/>
          <p:cNvSpPr/>
          <p:nvPr/>
        </p:nvSpPr>
        <p:spPr>
          <a:xfrm>
            <a:off x="8328068" y="3400858"/>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0,59</a:t>
            </a:r>
            <a:endParaRPr b="0" i="0" sz="1473" u="none" cap="none" strike="noStrike">
              <a:latin typeface="Arial"/>
              <a:ea typeface="Arial"/>
              <a:cs typeface="Arial"/>
              <a:sym typeface="Arial"/>
            </a:endParaRPr>
          </a:p>
        </p:txBody>
      </p:sp>
      <p:cxnSp>
        <p:nvCxnSpPr>
          <p:cNvPr id="176" name="Google Shape;176;p6"/>
          <p:cNvCxnSpPr/>
          <p:nvPr/>
        </p:nvCxnSpPr>
        <p:spPr>
          <a:xfrm>
            <a:off x="9954591" y="3370895"/>
            <a:ext cx="300" cy="351300"/>
          </a:xfrm>
          <a:prstGeom prst="straightConnector1">
            <a:avLst/>
          </a:prstGeom>
          <a:noFill/>
          <a:ln cap="flat" cmpd="sng" w="20050">
            <a:solidFill>
              <a:srgbClr val="000000"/>
            </a:solidFill>
            <a:prstDash val="solid"/>
            <a:round/>
            <a:headEnd len="sm" w="sm" type="none"/>
            <a:tailEnd len="sm" w="sm" type="none"/>
          </a:ln>
        </p:spPr>
      </p:cxnSp>
      <p:sp>
        <p:nvSpPr>
          <p:cNvPr id="177" name="Google Shape;177;p6"/>
          <p:cNvSpPr/>
          <p:nvPr/>
        </p:nvSpPr>
        <p:spPr>
          <a:xfrm>
            <a:off x="10018227" y="3400858"/>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0,61</a:t>
            </a:r>
            <a:endParaRPr b="0" i="0" sz="1473" u="none" cap="none" strike="noStrike">
              <a:latin typeface="Arial"/>
              <a:ea typeface="Arial"/>
              <a:cs typeface="Arial"/>
              <a:sym typeface="Arial"/>
            </a:endParaRPr>
          </a:p>
        </p:txBody>
      </p:sp>
      <p:cxnSp>
        <p:nvCxnSpPr>
          <p:cNvPr id="178" name="Google Shape;178;p6"/>
          <p:cNvCxnSpPr/>
          <p:nvPr/>
        </p:nvCxnSpPr>
        <p:spPr>
          <a:xfrm>
            <a:off x="557199" y="3733410"/>
            <a:ext cx="11077800" cy="300"/>
          </a:xfrm>
          <a:prstGeom prst="straightConnector1">
            <a:avLst/>
          </a:prstGeom>
          <a:noFill/>
          <a:ln cap="flat" cmpd="sng" w="20050">
            <a:solidFill>
              <a:srgbClr val="000000"/>
            </a:solidFill>
            <a:prstDash val="solid"/>
            <a:round/>
            <a:headEnd len="sm" w="sm" type="none"/>
            <a:tailEnd len="sm" w="sm" type="none"/>
          </a:ln>
        </p:spPr>
      </p:cxnSp>
      <p:sp>
        <p:nvSpPr>
          <p:cNvPr id="179" name="Google Shape;179;p6"/>
          <p:cNvSpPr/>
          <p:nvPr/>
        </p:nvSpPr>
        <p:spPr>
          <a:xfrm>
            <a:off x="664396" y="3774346"/>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ResNet101, SparseCategoricalCrossEntropy</a:t>
            </a:r>
            <a:endParaRPr b="0" i="0" sz="1473" u="none" cap="none" strike="noStrike">
              <a:latin typeface="Arial"/>
              <a:ea typeface="Arial"/>
              <a:cs typeface="Arial"/>
              <a:sym typeface="Arial"/>
            </a:endParaRPr>
          </a:p>
        </p:txBody>
      </p:sp>
      <p:cxnSp>
        <p:nvCxnSpPr>
          <p:cNvPr id="180" name="Google Shape;180;p6"/>
          <p:cNvCxnSpPr/>
          <p:nvPr/>
        </p:nvCxnSpPr>
        <p:spPr>
          <a:xfrm>
            <a:off x="6580711" y="3744382"/>
            <a:ext cx="300" cy="351300"/>
          </a:xfrm>
          <a:prstGeom prst="straightConnector1">
            <a:avLst/>
          </a:prstGeom>
          <a:noFill/>
          <a:ln cap="flat" cmpd="sng" w="20050">
            <a:solidFill>
              <a:srgbClr val="000000"/>
            </a:solidFill>
            <a:prstDash val="solid"/>
            <a:round/>
            <a:headEnd len="sm" w="sm" type="none"/>
            <a:tailEnd len="sm" w="sm" type="none"/>
          </a:ln>
        </p:spPr>
      </p:cxnSp>
      <p:sp>
        <p:nvSpPr>
          <p:cNvPr id="181" name="Google Shape;181;p6"/>
          <p:cNvSpPr/>
          <p:nvPr/>
        </p:nvSpPr>
        <p:spPr>
          <a:xfrm>
            <a:off x="6644348" y="3774346"/>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0,72</a:t>
            </a:r>
            <a:endParaRPr b="0" i="0" sz="1473" u="none" cap="none" strike="noStrike">
              <a:latin typeface="Arial"/>
              <a:ea typeface="Arial"/>
              <a:cs typeface="Arial"/>
              <a:sym typeface="Arial"/>
            </a:endParaRPr>
          </a:p>
        </p:txBody>
      </p:sp>
      <p:cxnSp>
        <p:nvCxnSpPr>
          <p:cNvPr id="182" name="Google Shape;182;p6"/>
          <p:cNvCxnSpPr/>
          <p:nvPr/>
        </p:nvCxnSpPr>
        <p:spPr>
          <a:xfrm>
            <a:off x="8264431" y="3744382"/>
            <a:ext cx="300" cy="351300"/>
          </a:xfrm>
          <a:prstGeom prst="straightConnector1">
            <a:avLst/>
          </a:prstGeom>
          <a:noFill/>
          <a:ln cap="flat" cmpd="sng" w="20050">
            <a:solidFill>
              <a:srgbClr val="000000"/>
            </a:solidFill>
            <a:prstDash val="solid"/>
            <a:round/>
            <a:headEnd len="sm" w="sm" type="none"/>
            <a:tailEnd len="sm" w="sm" type="none"/>
          </a:ln>
        </p:spPr>
      </p:cxnSp>
      <p:sp>
        <p:nvSpPr>
          <p:cNvPr id="183" name="Google Shape;183;p6"/>
          <p:cNvSpPr/>
          <p:nvPr/>
        </p:nvSpPr>
        <p:spPr>
          <a:xfrm>
            <a:off x="8328068" y="3774346"/>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0,48</a:t>
            </a:r>
            <a:endParaRPr b="0" i="0" sz="1473" u="none" cap="none" strike="noStrike">
              <a:latin typeface="Arial"/>
              <a:ea typeface="Arial"/>
              <a:cs typeface="Arial"/>
              <a:sym typeface="Arial"/>
            </a:endParaRPr>
          </a:p>
        </p:txBody>
      </p:sp>
      <p:cxnSp>
        <p:nvCxnSpPr>
          <p:cNvPr id="184" name="Google Shape;184;p6"/>
          <p:cNvCxnSpPr/>
          <p:nvPr/>
        </p:nvCxnSpPr>
        <p:spPr>
          <a:xfrm>
            <a:off x="9954591" y="3744382"/>
            <a:ext cx="300" cy="351300"/>
          </a:xfrm>
          <a:prstGeom prst="straightConnector1">
            <a:avLst/>
          </a:prstGeom>
          <a:noFill/>
          <a:ln cap="flat" cmpd="sng" w="20050">
            <a:solidFill>
              <a:srgbClr val="000000"/>
            </a:solidFill>
            <a:prstDash val="solid"/>
            <a:round/>
            <a:headEnd len="sm" w="sm" type="none"/>
            <a:tailEnd len="sm" w="sm" type="none"/>
          </a:ln>
        </p:spPr>
      </p:cxnSp>
      <p:sp>
        <p:nvSpPr>
          <p:cNvPr id="185" name="Google Shape;185;p6"/>
          <p:cNvSpPr/>
          <p:nvPr/>
        </p:nvSpPr>
        <p:spPr>
          <a:xfrm>
            <a:off x="10018227" y="3774346"/>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0,47</a:t>
            </a:r>
            <a:endParaRPr b="0" i="0" sz="1473" u="none" cap="none" strike="noStrike">
              <a:latin typeface="Arial"/>
              <a:ea typeface="Arial"/>
              <a:cs typeface="Arial"/>
              <a:sym typeface="Arial"/>
            </a:endParaRPr>
          </a:p>
        </p:txBody>
      </p:sp>
      <p:cxnSp>
        <p:nvCxnSpPr>
          <p:cNvPr id="186" name="Google Shape;186;p6"/>
          <p:cNvCxnSpPr/>
          <p:nvPr/>
        </p:nvCxnSpPr>
        <p:spPr>
          <a:xfrm>
            <a:off x="557199" y="4106897"/>
            <a:ext cx="11077800" cy="300"/>
          </a:xfrm>
          <a:prstGeom prst="straightConnector1">
            <a:avLst/>
          </a:prstGeom>
          <a:noFill/>
          <a:ln cap="flat" cmpd="sng" w="20050">
            <a:solidFill>
              <a:srgbClr val="000000"/>
            </a:solidFill>
            <a:prstDash val="solid"/>
            <a:round/>
            <a:headEnd len="sm" w="sm" type="none"/>
            <a:tailEnd len="sm" w="sm" type="none"/>
          </a:ln>
        </p:spPr>
      </p:cxnSp>
      <p:sp>
        <p:nvSpPr>
          <p:cNvPr id="187" name="Google Shape;187;p6"/>
          <p:cNvSpPr/>
          <p:nvPr/>
        </p:nvSpPr>
        <p:spPr>
          <a:xfrm>
            <a:off x="664396" y="4147833"/>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ResNet101, Dice e SparseCategoricalCrossEntropy</a:t>
            </a:r>
            <a:endParaRPr b="0" i="0" sz="1473" u="none" cap="none" strike="noStrike">
              <a:latin typeface="Arial"/>
              <a:ea typeface="Arial"/>
              <a:cs typeface="Arial"/>
              <a:sym typeface="Arial"/>
            </a:endParaRPr>
          </a:p>
        </p:txBody>
      </p:sp>
      <p:cxnSp>
        <p:nvCxnSpPr>
          <p:cNvPr id="188" name="Google Shape;188;p6"/>
          <p:cNvCxnSpPr/>
          <p:nvPr/>
        </p:nvCxnSpPr>
        <p:spPr>
          <a:xfrm>
            <a:off x="6580711" y="4117870"/>
            <a:ext cx="300" cy="351600"/>
          </a:xfrm>
          <a:prstGeom prst="straightConnector1">
            <a:avLst/>
          </a:prstGeom>
          <a:noFill/>
          <a:ln cap="flat" cmpd="sng" w="20050">
            <a:solidFill>
              <a:srgbClr val="000000"/>
            </a:solidFill>
            <a:prstDash val="solid"/>
            <a:round/>
            <a:headEnd len="sm" w="sm" type="none"/>
            <a:tailEnd len="sm" w="sm" type="none"/>
          </a:ln>
        </p:spPr>
      </p:cxnSp>
      <p:sp>
        <p:nvSpPr>
          <p:cNvPr id="189" name="Google Shape;189;p6"/>
          <p:cNvSpPr/>
          <p:nvPr/>
        </p:nvSpPr>
        <p:spPr>
          <a:xfrm>
            <a:off x="6644348" y="4147833"/>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0,72</a:t>
            </a:r>
            <a:endParaRPr b="0" i="0" sz="1473" u="none" cap="none" strike="noStrike">
              <a:latin typeface="Arial"/>
              <a:ea typeface="Arial"/>
              <a:cs typeface="Arial"/>
              <a:sym typeface="Arial"/>
            </a:endParaRPr>
          </a:p>
        </p:txBody>
      </p:sp>
      <p:cxnSp>
        <p:nvCxnSpPr>
          <p:cNvPr id="190" name="Google Shape;190;p6"/>
          <p:cNvCxnSpPr/>
          <p:nvPr/>
        </p:nvCxnSpPr>
        <p:spPr>
          <a:xfrm>
            <a:off x="8264431" y="4117870"/>
            <a:ext cx="300" cy="351600"/>
          </a:xfrm>
          <a:prstGeom prst="straightConnector1">
            <a:avLst/>
          </a:prstGeom>
          <a:noFill/>
          <a:ln cap="flat" cmpd="sng" w="20050">
            <a:solidFill>
              <a:srgbClr val="000000"/>
            </a:solidFill>
            <a:prstDash val="solid"/>
            <a:round/>
            <a:headEnd len="sm" w="sm" type="none"/>
            <a:tailEnd len="sm" w="sm" type="none"/>
          </a:ln>
        </p:spPr>
      </p:cxnSp>
      <p:sp>
        <p:nvSpPr>
          <p:cNvPr id="191" name="Google Shape;191;p6"/>
          <p:cNvSpPr/>
          <p:nvPr/>
        </p:nvSpPr>
        <p:spPr>
          <a:xfrm>
            <a:off x="8328068" y="4147833"/>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0,55</a:t>
            </a:r>
            <a:endParaRPr b="0" i="0" sz="1473" u="none" cap="none" strike="noStrike">
              <a:latin typeface="Arial"/>
              <a:ea typeface="Arial"/>
              <a:cs typeface="Arial"/>
              <a:sym typeface="Arial"/>
            </a:endParaRPr>
          </a:p>
        </p:txBody>
      </p:sp>
      <p:cxnSp>
        <p:nvCxnSpPr>
          <p:cNvPr id="192" name="Google Shape;192;p6"/>
          <p:cNvCxnSpPr/>
          <p:nvPr/>
        </p:nvCxnSpPr>
        <p:spPr>
          <a:xfrm>
            <a:off x="9954591" y="4117870"/>
            <a:ext cx="300" cy="351600"/>
          </a:xfrm>
          <a:prstGeom prst="straightConnector1">
            <a:avLst/>
          </a:prstGeom>
          <a:noFill/>
          <a:ln cap="flat" cmpd="sng" w="20050">
            <a:solidFill>
              <a:srgbClr val="000000"/>
            </a:solidFill>
            <a:prstDash val="solid"/>
            <a:round/>
            <a:headEnd len="sm" w="sm" type="none"/>
            <a:tailEnd len="sm" w="sm" type="none"/>
          </a:ln>
        </p:spPr>
      </p:cxnSp>
      <p:sp>
        <p:nvSpPr>
          <p:cNvPr id="193" name="Google Shape;193;p6"/>
          <p:cNvSpPr/>
          <p:nvPr/>
        </p:nvSpPr>
        <p:spPr>
          <a:xfrm>
            <a:off x="10018227" y="4147833"/>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0,56</a:t>
            </a:r>
            <a:endParaRPr b="0" i="0" sz="1473" u="none" cap="none" strike="noStrike">
              <a:latin typeface="Arial"/>
              <a:ea typeface="Arial"/>
              <a:cs typeface="Arial"/>
              <a:sym typeface="Arial"/>
            </a:endParaRPr>
          </a:p>
        </p:txBody>
      </p:sp>
      <p:cxnSp>
        <p:nvCxnSpPr>
          <p:cNvPr id="194" name="Google Shape;194;p6"/>
          <p:cNvCxnSpPr/>
          <p:nvPr/>
        </p:nvCxnSpPr>
        <p:spPr>
          <a:xfrm>
            <a:off x="557199" y="4480385"/>
            <a:ext cx="11077800" cy="300"/>
          </a:xfrm>
          <a:prstGeom prst="straightConnector1">
            <a:avLst/>
          </a:prstGeom>
          <a:noFill/>
          <a:ln cap="flat" cmpd="sng" w="20050">
            <a:solidFill>
              <a:srgbClr val="000000"/>
            </a:solidFill>
            <a:prstDash val="solid"/>
            <a:round/>
            <a:headEnd len="sm" w="sm" type="none"/>
            <a:tailEnd len="sm" w="sm" type="none"/>
          </a:ln>
        </p:spPr>
      </p:cxnSp>
      <p:sp>
        <p:nvSpPr>
          <p:cNvPr id="195" name="Google Shape;195;p6"/>
          <p:cNvSpPr/>
          <p:nvPr/>
        </p:nvSpPr>
        <p:spPr>
          <a:xfrm>
            <a:off x="664396" y="4521743"/>
            <a:ext cx="5973000" cy="321000"/>
          </a:xfrm>
          <a:prstGeom prst="rect">
            <a:avLst/>
          </a:prstGeom>
          <a:noFill/>
          <a:ln>
            <a:noFill/>
          </a:ln>
        </p:spPr>
        <p:txBody>
          <a:bodyPr anchorCtr="0" anchor="t" bIns="0" lIns="0" spcFirstLastPara="1" rIns="0" wrap="square" tIns="0">
            <a:normAutofit/>
          </a:bodyPr>
          <a:lstStyle/>
          <a:p>
            <a:pPr indent="0" lvl="0" marL="0" marR="0" rtl="0" algn="l">
              <a:lnSpc>
                <a:spcPct val="155476"/>
              </a:lnSpc>
              <a:spcBef>
                <a:spcPts val="0"/>
              </a:spcBef>
              <a:spcAft>
                <a:spcPts val="0"/>
              </a:spcAft>
              <a:buClr>
                <a:srgbClr val="000000"/>
              </a:buClr>
              <a:buSzPts val="1326"/>
              <a:buFont typeface="IBM Plex Sans"/>
              <a:buNone/>
            </a:pPr>
            <a:r>
              <a:rPr b="0" i="0" lang="en-US" sz="1326" u="none" cap="none" strike="noStrike">
                <a:solidFill>
                  <a:srgbClr val="000000"/>
                </a:solidFill>
                <a:latin typeface="IBM Plex Sans"/>
                <a:ea typeface="IBM Plex Sans"/>
                <a:cs typeface="IBM Plex Sans"/>
                <a:sym typeface="IBM Plex Sans"/>
              </a:rPr>
              <a:t>ResNet101 decoder maior, Dice e SparseCategoricalCrossEntropy</a:t>
            </a:r>
            <a:endParaRPr b="0" i="0" sz="1326" u="none" cap="none" strike="noStrike">
              <a:latin typeface="Arial"/>
              <a:ea typeface="Arial"/>
              <a:cs typeface="Arial"/>
              <a:sym typeface="Arial"/>
            </a:endParaRPr>
          </a:p>
        </p:txBody>
      </p:sp>
      <p:cxnSp>
        <p:nvCxnSpPr>
          <p:cNvPr id="196" name="Google Shape;196;p6"/>
          <p:cNvCxnSpPr/>
          <p:nvPr/>
        </p:nvCxnSpPr>
        <p:spPr>
          <a:xfrm>
            <a:off x="6580711" y="4491780"/>
            <a:ext cx="300" cy="351300"/>
          </a:xfrm>
          <a:prstGeom prst="straightConnector1">
            <a:avLst/>
          </a:prstGeom>
          <a:noFill/>
          <a:ln cap="flat" cmpd="sng" w="20050">
            <a:solidFill>
              <a:srgbClr val="000000"/>
            </a:solidFill>
            <a:prstDash val="solid"/>
            <a:round/>
            <a:headEnd len="sm" w="sm" type="none"/>
            <a:tailEnd len="sm" w="sm" type="none"/>
          </a:ln>
        </p:spPr>
      </p:cxnSp>
      <p:sp>
        <p:nvSpPr>
          <p:cNvPr id="197" name="Google Shape;197;p6"/>
          <p:cNvSpPr/>
          <p:nvPr/>
        </p:nvSpPr>
        <p:spPr>
          <a:xfrm>
            <a:off x="6644348" y="4521743"/>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0,72</a:t>
            </a:r>
            <a:endParaRPr b="0" i="0" sz="1473" u="none" cap="none" strike="noStrike">
              <a:latin typeface="Arial"/>
              <a:ea typeface="Arial"/>
              <a:cs typeface="Arial"/>
              <a:sym typeface="Arial"/>
            </a:endParaRPr>
          </a:p>
        </p:txBody>
      </p:sp>
      <p:cxnSp>
        <p:nvCxnSpPr>
          <p:cNvPr id="198" name="Google Shape;198;p6"/>
          <p:cNvCxnSpPr/>
          <p:nvPr/>
        </p:nvCxnSpPr>
        <p:spPr>
          <a:xfrm>
            <a:off x="8264431" y="4491780"/>
            <a:ext cx="300" cy="351300"/>
          </a:xfrm>
          <a:prstGeom prst="straightConnector1">
            <a:avLst/>
          </a:prstGeom>
          <a:noFill/>
          <a:ln cap="flat" cmpd="sng" w="20050">
            <a:solidFill>
              <a:srgbClr val="000000"/>
            </a:solidFill>
            <a:prstDash val="solid"/>
            <a:round/>
            <a:headEnd len="sm" w="sm" type="none"/>
            <a:tailEnd len="sm" w="sm" type="none"/>
          </a:ln>
        </p:spPr>
      </p:cxnSp>
      <p:sp>
        <p:nvSpPr>
          <p:cNvPr id="199" name="Google Shape;199;p6"/>
          <p:cNvSpPr/>
          <p:nvPr/>
        </p:nvSpPr>
        <p:spPr>
          <a:xfrm>
            <a:off x="8328068" y="4521743"/>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0,55</a:t>
            </a:r>
            <a:endParaRPr b="0" i="0" sz="1473" u="none" cap="none" strike="noStrike">
              <a:latin typeface="Arial"/>
              <a:ea typeface="Arial"/>
              <a:cs typeface="Arial"/>
              <a:sym typeface="Arial"/>
            </a:endParaRPr>
          </a:p>
        </p:txBody>
      </p:sp>
      <p:cxnSp>
        <p:nvCxnSpPr>
          <p:cNvPr id="200" name="Google Shape;200;p6"/>
          <p:cNvCxnSpPr/>
          <p:nvPr/>
        </p:nvCxnSpPr>
        <p:spPr>
          <a:xfrm>
            <a:off x="9954591" y="4491780"/>
            <a:ext cx="300" cy="351300"/>
          </a:xfrm>
          <a:prstGeom prst="straightConnector1">
            <a:avLst/>
          </a:prstGeom>
          <a:noFill/>
          <a:ln cap="flat" cmpd="sng" w="20050">
            <a:solidFill>
              <a:srgbClr val="000000"/>
            </a:solidFill>
            <a:prstDash val="solid"/>
            <a:round/>
            <a:headEnd len="sm" w="sm" type="none"/>
            <a:tailEnd len="sm" w="sm" type="none"/>
          </a:ln>
        </p:spPr>
      </p:cxnSp>
      <p:sp>
        <p:nvSpPr>
          <p:cNvPr id="201" name="Google Shape;201;p6"/>
          <p:cNvSpPr/>
          <p:nvPr/>
        </p:nvSpPr>
        <p:spPr>
          <a:xfrm>
            <a:off x="10018227" y="4521743"/>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0,58</a:t>
            </a:r>
            <a:endParaRPr b="0" i="0" sz="1473" u="none" cap="none" strike="noStrike">
              <a:latin typeface="Arial"/>
              <a:ea typeface="Arial"/>
              <a:cs typeface="Arial"/>
              <a:sym typeface="Arial"/>
            </a:endParaRPr>
          </a:p>
        </p:txBody>
      </p:sp>
      <p:cxnSp>
        <p:nvCxnSpPr>
          <p:cNvPr id="202" name="Google Shape;202;p6"/>
          <p:cNvCxnSpPr/>
          <p:nvPr/>
        </p:nvCxnSpPr>
        <p:spPr>
          <a:xfrm>
            <a:off x="557199" y="4853873"/>
            <a:ext cx="11077800" cy="300"/>
          </a:xfrm>
          <a:prstGeom prst="straightConnector1">
            <a:avLst/>
          </a:prstGeom>
          <a:noFill/>
          <a:ln cap="flat" cmpd="sng" w="20050">
            <a:solidFill>
              <a:srgbClr val="000000"/>
            </a:solidFill>
            <a:prstDash val="solid"/>
            <a:round/>
            <a:headEnd len="sm" w="sm" type="none"/>
            <a:tailEnd len="sm" w="sm" type="none"/>
          </a:ln>
        </p:spPr>
      </p:cxnSp>
      <p:sp>
        <p:nvSpPr>
          <p:cNvPr id="203" name="Google Shape;203;p6"/>
          <p:cNvSpPr/>
          <p:nvPr/>
        </p:nvSpPr>
        <p:spPr>
          <a:xfrm>
            <a:off x="664396" y="4895230"/>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EfficientNetB0, SparseCategoricalCrossEntropy</a:t>
            </a:r>
            <a:endParaRPr b="0" i="0" sz="1473" u="none" cap="none" strike="noStrike">
              <a:latin typeface="Arial"/>
              <a:ea typeface="Arial"/>
              <a:cs typeface="Arial"/>
              <a:sym typeface="Arial"/>
            </a:endParaRPr>
          </a:p>
        </p:txBody>
      </p:sp>
      <p:cxnSp>
        <p:nvCxnSpPr>
          <p:cNvPr id="204" name="Google Shape;204;p6"/>
          <p:cNvCxnSpPr/>
          <p:nvPr/>
        </p:nvCxnSpPr>
        <p:spPr>
          <a:xfrm>
            <a:off x="6580711" y="4865267"/>
            <a:ext cx="300" cy="351300"/>
          </a:xfrm>
          <a:prstGeom prst="straightConnector1">
            <a:avLst/>
          </a:prstGeom>
          <a:noFill/>
          <a:ln cap="flat" cmpd="sng" w="20050">
            <a:solidFill>
              <a:srgbClr val="000000"/>
            </a:solidFill>
            <a:prstDash val="solid"/>
            <a:round/>
            <a:headEnd len="sm" w="sm" type="none"/>
            <a:tailEnd len="sm" w="sm" type="none"/>
          </a:ln>
        </p:spPr>
      </p:cxnSp>
      <p:sp>
        <p:nvSpPr>
          <p:cNvPr id="205" name="Google Shape;205;p6"/>
          <p:cNvSpPr/>
          <p:nvPr/>
        </p:nvSpPr>
        <p:spPr>
          <a:xfrm>
            <a:off x="6644348" y="4895230"/>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0,71</a:t>
            </a:r>
            <a:endParaRPr b="0" i="0" sz="1473" u="none" cap="none" strike="noStrike">
              <a:latin typeface="Arial"/>
              <a:ea typeface="Arial"/>
              <a:cs typeface="Arial"/>
              <a:sym typeface="Arial"/>
            </a:endParaRPr>
          </a:p>
        </p:txBody>
      </p:sp>
      <p:cxnSp>
        <p:nvCxnSpPr>
          <p:cNvPr id="206" name="Google Shape;206;p6"/>
          <p:cNvCxnSpPr/>
          <p:nvPr/>
        </p:nvCxnSpPr>
        <p:spPr>
          <a:xfrm>
            <a:off x="8264431" y="4865267"/>
            <a:ext cx="300" cy="351300"/>
          </a:xfrm>
          <a:prstGeom prst="straightConnector1">
            <a:avLst/>
          </a:prstGeom>
          <a:noFill/>
          <a:ln cap="flat" cmpd="sng" w="20050">
            <a:solidFill>
              <a:srgbClr val="000000"/>
            </a:solidFill>
            <a:prstDash val="solid"/>
            <a:round/>
            <a:headEnd len="sm" w="sm" type="none"/>
            <a:tailEnd len="sm" w="sm" type="none"/>
          </a:ln>
        </p:spPr>
      </p:cxnSp>
      <p:sp>
        <p:nvSpPr>
          <p:cNvPr id="207" name="Google Shape;207;p6"/>
          <p:cNvSpPr/>
          <p:nvPr/>
        </p:nvSpPr>
        <p:spPr>
          <a:xfrm>
            <a:off x="8328068" y="4895230"/>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0,52</a:t>
            </a:r>
            <a:endParaRPr b="0" i="0" sz="1473" u="none" cap="none" strike="noStrike">
              <a:latin typeface="Arial"/>
              <a:ea typeface="Arial"/>
              <a:cs typeface="Arial"/>
              <a:sym typeface="Arial"/>
            </a:endParaRPr>
          </a:p>
        </p:txBody>
      </p:sp>
      <p:cxnSp>
        <p:nvCxnSpPr>
          <p:cNvPr id="208" name="Google Shape;208;p6"/>
          <p:cNvCxnSpPr/>
          <p:nvPr/>
        </p:nvCxnSpPr>
        <p:spPr>
          <a:xfrm>
            <a:off x="9954591" y="4865267"/>
            <a:ext cx="300" cy="351300"/>
          </a:xfrm>
          <a:prstGeom prst="straightConnector1">
            <a:avLst/>
          </a:prstGeom>
          <a:noFill/>
          <a:ln cap="flat" cmpd="sng" w="20050">
            <a:solidFill>
              <a:srgbClr val="000000"/>
            </a:solidFill>
            <a:prstDash val="solid"/>
            <a:round/>
            <a:headEnd len="sm" w="sm" type="none"/>
            <a:tailEnd len="sm" w="sm" type="none"/>
          </a:ln>
        </p:spPr>
      </p:cxnSp>
      <p:sp>
        <p:nvSpPr>
          <p:cNvPr id="209" name="Google Shape;209;p6"/>
          <p:cNvSpPr/>
          <p:nvPr/>
        </p:nvSpPr>
        <p:spPr>
          <a:xfrm>
            <a:off x="10018227" y="4895230"/>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0,50</a:t>
            </a:r>
            <a:endParaRPr b="0" i="0" sz="1473" u="none" cap="none" strike="noStrike">
              <a:latin typeface="Arial"/>
              <a:ea typeface="Arial"/>
              <a:cs typeface="Arial"/>
              <a:sym typeface="Arial"/>
            </a:endParaRPr>
          </a:p>
        </p:txBody>
      </p:sp>
      <p:cxnSp>
        <p:nvCxnSpPr>
          <p:cNvPr id="210" name="Google Shape;210;p6"/>
          <p:cNvCxnSpPr/>
          <p:nvPr/>
        </p:nvCxnSpPr>
        <p:spPr>
          <a:xfrm>
            <a:off x="557199" y="5227782"/>
            <a:ext cx="11077800" cy="300"/>
          </a:xfrm>
          <a:prstGeom prst="straightConnector1">
            <a:avLst/>
          </a:prstGeom>
          <a:noFill/>
          <a:ln cap="flat" cmpd="sng" w="20050">
            <a:solidFill>
              <a:srgbClr val="000000"/>
            </a:solidFill>
            <a:prstDash val="solid"/>
            <a:round/>
            <a:headEnd len="sm" w="sm" type="none"/>
            <a:tailEnd len="sm" w="sm" type="none"/>
          </a:ln>
        </p:spPr>
      </p:cxnSp>
      <p:sp>
        <p:nvSpPr>
          <p:cNvPr id="211" name="Google Shape;211;p6"/>
          <p:cNvSpPr/>
          <p:nvPr/>
        </p:nvSpPr>
        <p:spPr>
          <a:xfrm>
            <a:off x="664396" y="5268718"/>
            <a:ext cx="5973000" cy="321000"/>
          </a:xfrm>
          <a:prstGeom prst="rect">
            <a:avLst/>
          </a:prstGeom>
          <a:noFill/>
          <a:ln>
            <a:noFill/>
          </a:ln>
        </p:spPr>
        <p:txBody>
          <a:bodyPr anchorCtr="0" anchor="t" bIns="0" lIns="0" spcFirstLastPara="1" rIns="0" wrap="square" tIns="0">
            <a:normAutofit/>
          </a:bodyPr>
          <a:lstStyle/>
          <a:p>
            <a:pPr indent="0" lvl="0" marL="0" marR="0" rtl="0" algn="l">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EfficientNetB0, Dice e SparseCategoricalCrossEntropy</a:t>
            </a:r>
            <a:endParaRPr b="0" i="0" sz="1473" u="none" cap="none" strike="noStrike">
              <a:latin typeface="Arial"/>
              <a:ea typeface="Arial"/>
              <a:cs typeface="Arial"/>
              <a:sym typeface="Arial"/>
            </a:endParaRPr>
          </a:p>
        </p:txBody>
      </p:sp>
      <p:cxnSp>
        <p:nvCxnSpPr>
          <p:cNvPr id="212" name="Google Shape;212;p6"/>
          <p:cNvCxnSpPr/>
          <p:nvPr/>
        </p:nvCxnSpPr>
        <p:spPr>
          <a:xfrm>
            <a:off x="6580711" y="5238755"/>
            <a:ext cx="300" cy="351300"/>
          </a:xfrm>
          <a:prstGeom prst="straightConnector1">
            <a:avLst/>
          </a:prstGeom>
          <a:noFill/>
          <a:ln cap="flat" cmpd="sng" w="20050">
            <a:solidFill>
              <a:srgbClr val="000000"/>
            </a:solidFill>
            <a:prstDash val="solid"/>
            <a:round/>
            <a:headEnd len="sm" w="sm" type="none"/>
            <a:tailEnd len="sm" w="sm" type="none"/>
          </a:ln>
        </p:spPr>
      </p:cxnSp>
      <p:sp>
        <p:nvSpPr>
          <p:cNvPr id="213" name="Google Shape;213;p6"/>
          <p:cNvSpPr/>
          <p:nvPr/>
        </p:nvSpPr>
        <p:spPr>
          <a:xfrm>
            <a:off x="6644348" y="5268718"/>
            <a:ext cx="15030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0,71</a:t>
            </a:r>
            <a:endParaRPr b="0" i="0" sz="1473" u="none" cap="none" strike="noStrike">
              <a:latin typeface="Arial"/>
              <a:ea typeface="Arial"/>
              <a:cs typeface="Arial"/>
              <a:sym typeface="Arial"/>
            </a:endParaRPr>
          </a:p>
        </p:txBody>
      </p:sp>
      <p:cxnSp>
        <p:nvCxnSpPr>
          <p:cNvPr id="214" name="Google Shape;214;p6"/>
          <p:cNvCxnSpPr/>
          <p:nvPr/>
        </p:nvCxnSpPr>
        <p:spPr>
          <a:xfrm>
            <a:off x="8264431" y="5238755"/>
            <a:ext cx="300" cy="351300"/>
          </a:xfrm>
          <a:prstGeom prst="straightConnector1">
            <a:avLst/>
          </a:prstGeom>
          <a:noFill/>
          <a:ln cap="flat" cmpd="sng" w="20050">
            <a:solidFill>
              <a:srgbClr val="000000"/>
            </a:solidFill>
            <a:prstDash val="solid"/>
            <a:round/>
            <a:headEnd len="sm" w="sm" type="none"/>
            <a:tailEnd len="sm" w="sm" type="none"/>
          </a:ln>
        </p:spPr>
      </p:cxnSp>
      <p:sp>
        <p:nvSpPr>
          <p:cNvPr id="215" name="Google Shape;215;p6"/>
          <p:cNvSpPr/>
          <p:nvPr/>
        </p:nvSpPr>
        <p:spPr>
          <a:xfrm>
            <a:off x="8328068" y="5268718"/>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0,51</a:t>
            </a:r>
            <a:endParaRPr b="0" i="0" sz="1473" u="none" cap="none" strike="noStrike">
              <a:latin typeface="Arial"/>
              <a:ea typeface="Arial"/>
              <a:cs typeface="Arial"/>
              <a:sym typeface="Arial"/>
            </a:endParaRPr>
          </a:p>
        </p:txBody>
      </p:sp>
      <p:cxnSp>
        <p:nvCxnSpPr>
          <p:cNvPr id="216" name="Google Shape;216;p6"/>
          <p:cNvCxnSpPr/>
          <p:nvPr/>
        </p:nvCxnSpPr>
        <p:spPr>
          <a:xfrm>
            <a:off x="9954591" y="5238755"/>
            <a:ext cx="300" cy="351300"/>
          </a:xfrm>
          <a:prstGeom prst="straightConnector1">
            <a:avLst/>
          </a:prstGeom>
          <a:noFill/>
          <a:ln cap="flat" cmpd="sng" w="20050">
            <a:solidFill>
              <a:srgbClr val="000000"/>
            </a:solidFill>
            <a:prstDash val="solid"/>
            <a:round/>
            <a:headEnd len="sm" w="sm" type="none"/>
            <a:tailEnd len="sm" w="sm" type="none"/>
          </a:ln>
        </p:spPr>
      </p:cxnSp>
      <p:sp>
        <p:nvSpPr>
          <p:cNvPr id="217" name="Google Shape;217;p6"/>
          <p:cNvSpPr/>
          <p:nvPr/>
        </p:nvSpPr>
        <p:spPr>
          <a:xfrm>
            <a:off x="10018227" y="5268718"/>
            <a:ext cx="1509600" cy="321000"/>
          </a:xfrm>
          <a:prstGeom prst="rect">
            <a:avLst/>
          </a:prstGeom>
          <a:noFill/>
          <a:ln>
            <a:noFill/>
          </a:ln>
        </p:spPr>
        <p:txBody>
          <a:bodyPr anchorCtr="0" anchor="t" bIns="0" lIns="0" spcFirstLastPara="1" rIns="0" wrap="square" tIns="0">
            <a:normAutofit/>
          </a:bodyPr>
          <a:lstStyle/>
          <a:p>
            <a:pPr indent="0" lvl="0" marL="0" marR="0" rtl="0" algn="r">
              <a:lnSpc>
                <a:spcPct val="139928"/>
              </a:lnSpc>
              <a:spcBef>
                <a:spcPts val="0"/>
              </a:spcBef>
              <a:spcAft>
                <a:spcPts val="0"/>
              </a:spcAft>
              <a:buClr>
                <a:srgbClr val="000000"/>
              </a:buClr>
              <a:buSzPts val="1473"/>
              <a:buFont typeface="IBM Plex Sans"/>
              <a:buNone/>
            </a:pPr>
            <a:r>
              <a:rPr b="0" i="0" lang="en-US" sz="1473" u="none" cap="none" strike="noStrike">
                <a:solidFill>
                  <a:srgbClr val="000000"/>
                </a:solidFill>
                <a:latin typeface="IBM Plex Sans"/>
                <a:ea typeface="IBM Plex Sans"/>
                <a:cs typeface="IBM Plex Sans"/>
                <a:sym typeface="IBM Plex Sans"/>
              </a:rPr>
              <a:t>0,55</a:t>
            </a:r>
            <a:endParaRPr b="0" i="0" sz="1473" u="none" cap="none"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7"/>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Matriz de confusão da ResNet50</a:t>
            </a:r>
            <a:endParaRPr b="0" i="0" sz="3600" u="none" cap="none" strike="noStrike">
              <a:solidFill>
                <a:srgbClr val="000000"/>
              </a:solidFill>
              <a:latin typeface="IBM Plex Sans"/>
              <a:ea typeface="IBM Plex Sans"/>
              <a:cs typeface="IBM Plex Sans"/>
              <a:sym typeface="IBM Plex Sans"/>
            </a:endParaRPr>
          </a:p>
        </p:txBody>
      </p:sp>
      <p:pic>
        <p:nvPicPr>
          <p:cNvPr descr="Matriz de confusão da U-Net-ResNet50 no teste externo, normalizada pela classe prevista: diagonal 0,7 em Bacterialblight, 0,34 em Blast, 0,83 em Brownspot e 0,78 em Tungro" id="224" name="Google Shape;224;p7"/>
          <p:cNvPicPr preferRelativeResize="0"/>
          <p:nvPr/>
        </p:nvPicPr>
        <p:blipFill rotWithShape="1">
          <a:blip r:embed="rId3">
            <a:alphaModFix/>
          </a:blip>
          <a:srcRect b="0" l="-9846" r="-9846" t="0"/>
          <a:stretch/>
        </p:blipFill>
        <p:spPr>
          <a:xfrm>
            <a:off x="1618560" y="1569600"/>
            <a:ext cx="8277120" cy="52880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8"/>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Limitações e Trabalhos Futuros</a:t>
            </a:r>
            <a:endParaRPr b="0" i="0" sz="3600" u="none" cap="none" strike="noStrike">
              <a:solidFill>
                <a:srgbClr val="000000"/>
              </a:solidFill>
              <a:latin typeface="IBM Plex Sans"/>
              <a:ea typeface="IBM Plex Sans"/>
              <a:cs typeface="IBM Plex Sans"/>
              <a:sym typeface="IBM Plex Sans"/>
            </a:endParaRPr>
          </a:p>
        </p:txBody>
      </p:sp>
      <p:sp>
        <p:nvSpPr>
          <p:cNvPr id="231" name="Google Shape;231;p8"/>
          <p:cNvSpPr/>
          <p:nvPr/>
        </p:nvSpPr>
        <p:spPr>
          <a:xfrm>
            <a:off x="821157" y="2013520"/>
            <a:ext cx="10866600" cy="38820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Clr>
                <a:srgbClr val="000000"/>
              </a:buClr>
              <a:buSzPts val="2200"/>
              <a:buFont typeface="IBM Plex Sans"/>
              <a:buChar char="●"/>
            </a:pPr>
            <a:r>
              <a:rPr b="0" i="0" lang="en-US" sz="2200" u="none" cap="none" strike="noStrike">
                <a:solidFill>
                  <a:srgbClr val="000000"/>
                </a:solidFill>
                <a:latin typeface="IBM Plex Sans"/>
                <a:ea typeface="IBM Plex Sans"/>
                <a:cs typeface="IBM Plex Sans"/>
                <a:sym typeface="IBM Plex Sans"/>
              </a:rPr>
              <a:t>Base pequena para encoders grandes</a:t>
            </a:r>
            <a:endParaRPr b="0" i="0" sz="2200" u="none" cap="none" strike="noStrike">
              <a:latin typeface="Arial"/>
              <a:ea typeface="Arial"/>
              <a:cs typeface="Arial"/>
              <a:sym typeface="Arial"/>
            </a:endParaRPr>
          </a:p>
        </p:txBody>
      </p:sp>
      <p:sp>
        <p:nvSpPr>
          <p:cNvPr id="232" name="Google Shape;232;p8"/>
          <p:cNvSpPr/>
          <p:nvPr/>
        </p:nvSpPr>
        <p:spPr>
          <a:xfrm>
            <a:off x="821157" y="2580160"/>
            <a:ext cx="10866600" cy="38820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Clr>
                <a:srgbClr val="000000"/>
              </a:buClr>
              <a:buSzPts val="2200"/>
              <a:buFont typeface="IBM Plex Sans"/>
              <a:buChar char="●"/>
            </a:pPr>
            <a:r>
              <a:rPr b="0" i="0" lang="en-US" sz="2200" u="none" cap="none" strike="noStrike">
                <a:solidFill>
                  <a:srgbClr val="000000"/>
                </a:solidFill>
                <a:latin typeface="IBM Plex Sans"/>
                <a:ea typeface="IBM Plex Sans"/>
                <a:cs typeface="IBM Plex Sans"/>
                <a:sym typeface="IBM Plex Sans"/>
              </a:rPr>
              <a:t>Data augmentation e novas arquiteturas</a:t>
            </a:r>
            <a:endParaRPr b="0" i="0" sz="2200" u="none" cap="none" strike="noStrike">
              <a:latin typeface="Arial"/>
              <a:ea typeface="Arial"/>
              <a:cs typeface="Arial"/>
              <a:sym typeface="Arial"/>
            </a:endParaRPr>
          </a:p>
        </p:txBody>
      </p:sp>
      <p:sp>
        <p:nvSpPr>
          <p:cNvPr id="233" name="Google Shape;233;p8"/>
          <p:cNvSpPr/>
          <p:nvPr/>
        </p:nvSpPr>
        <p:spPr>
          <a:xfrm>
            <a:off x="821157" y="3146440"/>
            <a:ext cx="10866600" cy="38820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Clr>
                <a:srgbClr val="000000"/>
              </a:buClr>
              <a:buSzPts val="2200"/>
              <a:buFont typeface="IBM Plex Sans"/>
              <a:buChar char="●"/>
            </a:pPr>
            <a:r>
              <a:rPr b="0" i="0" lang="en-US" sz="2200" u="none" cap="none" strike="noStrike">
                <a:solidFill>
                  <a:srgbClr val="000000"/>
                </a:solidFill>
                <a:latin typeface="IBM Plex Sans"/>
                <a:ea typeface="IBM Plex Sans"/>
                <a:cs typeface="IBM Plex Sans"/>
                <a:sym typeface="IBM Plex Sans"/>
              </a:rPr>
              <a:t>Testar com máscara</a:t>
            </a:r>
            <a:endParaRPr b="0" i="0" sz="22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9"/>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Conclusão</a:t>
            </a:r>
            <a:endParaRPr b="0" i="0" sz="3600" u="none" cap="none" strike="noStrike">
              <a:solidFill>
                <a:srgbClr val="000000"/>
              </a:solidFill>
              <a:latin typeface="IBM Plex Sans"/>
              <a:ea typeface="IBM Plex Sans"/>
              <a:cs typeface="IBM Plex Sans"/>
              <a:sym typeface="IBM Plex Sans"/>
            </a:endParaRPr>
          </a:p>
        </p:txBody>
      </p:sp>
      <p:sp>
        <p:nvSpPr>
          <p:cNvPr id="240" name="Google Shape;240;p9"/>
          <p:cNvSpPr/>
          <p:nvPr/>
        </p:nvSpPr>
        <p:spPr>
          <a:xfrm>
            <a:off x="821157" y="2043720"/>
            <a:ext cx="10866600" cy="38820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Clr>
                <a:srgbClr val="000000"/>
              </a:buClr>
              <a:buSzPts val="2200"/>
              <a:buFont typeface="IBM Plex Sans"/>
              <a:buChar char="●"/>
            </a:pPr>
            <a:r>
              <a:rPr b="0" i="0" lang="en-US" sz="2200" u="none" cap="none" strike="noStrike">
                <a:solidFill>
                  <a:srgbClr val="000000"/>
                </a:solidFill>
                <a:latin typeface="IBM Plex Sans"/>
                <a:ea typeface="IBM Plex Sans"/>
                <a:cs typeface="IBM Plex Sans"/>
                <a:sym typeface="IBM Plex Sans"/>
              </a:rPr>
              <a:t>Encoder: ResNet50 generalizou melhor</a:t>
            </a:r>
            <a:endParaRPr b="0" i="0" sz="2200" u="none" cap="none" strike="noStrike">
              <a:latin typeface="Arial"/>
              <a:ea typeface="Arial"/>
              <a:cs typeface="Arial"/>
              <a:sym typeface="Arial"/>
            </a:endParaRPr>
          </a:p>
        </p:txBody>
      </p:sp>
      <p:sp>
        <p:nvSpPr>
          <p:cNvPr id="241" name="Google Shape;241;p9"/>
          <p:cNvSpPr/>
          <p:nvPr/>
        </p:nvSpPr>
        <p:spPr>
          <a:xfrm>
            <a:off x="821157" y="2610360"/>
            <a:ext cx="10866600" cy="388200"/>
          </a:xfrm>
          <a:prstGeom prst="rect">
            <a:avLst/>
          </a:prstGeom>
          <a:noFill/>
          <a:ln>
            <a:noFill/>
          </a:ln>
        </p:spPr>
        <p:txBody>
          <a:bodyPr anchorCtr="0" anchor="t" bIns="0" lIns="0" spcFirstLastPara="1" rIns="0" wrap="square" tIns="0">
            <a:normAutofit/>
          </a:bodyPr>
          <a:lstStyle/>
          <a:p>
            <a:pPr indent="-368300" lvl="0" marL="457200" marR="0" rtl="0" algn="l">
              <a:lnSpc>
                <a:spcPct val="130000"/>
              </a:lnSpc>
              <a:spcBef>
                <a:spcPts val="0"/>
              </a:spcBef>
              <a:spcAft>
                <a:spcPts val="0"/>
              </a:spcAft>
              <a:buClr>
                <a:srgbClr val="000000"/>
              </a:buClr>
              <a:buSzPts val="2200"/>
              <a:buFont typeface="IBM Plex Sans"/>
              <a:buChar char="●"/>
            </a:pPr>
            <a:r>
              <a:rPr b="0" i="0" lang="en-US" sz="2200" u="none" cap="none" strike="noStrike">
                <a:solidFill>
                  <a:srgbClr val="000000"/>
                </a:solidFill>
                <a:latin typeface="IBM Plex Sans"/>
                <a:ea typeface="IBM Plex Sans"/>
                <a:cs typeface="IBM Plex Sans"/>
                <a:sym typeface="IBM Plex Sans"/>
              </a:rPr>
              <a:t>Loss: Dice sem ganho consistente</a:t>
            </a:r>
            <a:endParaRPr b="0" i="0" sz="2200" u="none" cap="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10"/>
          <p:cNvSpPr txBox="1"/>
          <p:nvPr>
            <p:ph idx="4294967295" type="title"/>
          </p:nvPr>
        </p:nvSpPr>
        <p:spPr>
          <a:xfrm>
            <a:off x="812880" y="812880"/>
            <a:ext cx="10883160" cy="5277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00000"/>
              </a:buClr>
              <a:buSzPts val="3600"/>
              <a:buFont typeface="Source Serif 4"/>
              <a:buNone/>
            </a:pPr>
            <a:r>
              <a:rPr b="1" i="0" lang="en-US" sz="3600" u="none" cap="none" strike="noStrike">
                <a:solidFill>
                  <a:srgbClr val="000000"/>
                </a:solidFill>
                <a:latin typeface="Source Serif 4"/>
                <a:ea typeface="Source Serif 4"/>
                <a:cs typeface="Source Serif 4"/>
                <a:sym typeface="Source Serif 4"/>
              </a:rPr>
              <a:t>Referências</a:t>
            </a:r>
            <a:endParaRPr b="0" i="0" sz="3600" u="none" cap="none" strike="noStrike">
              <a:solidFill>
                <a:srgbClr val="000000"/>
              </a:solidFill>
              <a:latin typeface="IBM Plex Sans"/>
              <a:ea typeface="IBM Plex Sans"/>
              <a:cs typeface="IBM Plex Sans"/>
              <a:sym typeface="IBM Plex Sans"/>
            </a:endParaRPr>
          </a:p>
        </p:txBody>
      </p:sp>
      <p:sp>
        <p:nvSpPr>
          <p:cNvPr id="248" name="Google Shape;248;p10"/>
          <p:cNvSpPr/>
          <p:nvPr/>
        </p:nvSpPr>
        <p:spPr>
          <a:xfrm>
            <a:off x="812880" y="2183900"/>
            <a:ext cx="10883100" cy="454200"/>
          </a:xfrm>
          <a:prstGeom prst="rect">
            <a:avLst/>
          </a:prstGeom>
          <a:noFill/>
          <a:ln>
            <a:noFill/>
          </a:ln>
        </p:spPr>
        <p:txBody>
          <a:bodyPr anchorCtr="0" anchor="t" bIns="0" lIns="0" spcFirstLastPara="1" rIns="0" wrap="square" tIns="0">
            <a:normAutofit/>
          </a:bodyPr>
          <a:lstStyle/>
          <a:p>
            <a:pPr indent="0" lvl="0" marL="0" marR="0" rtl="0" algn="l">
              <a:lnSpc>
                <a:spcPct val="129923"/>
              </a:lnSpc>
              <a:spcBef>
                <a:spcPts val="0"/>
              </a:spcBef>
              <a:spcAft>
                <a:spcPts val="0"/>
              </a:spcAft>
              <a:buClr>
                <a:srgbClr val="000000"/>
              </a:buClr>
              <a:buSzPts val="1300"/>
              <a:buFont typeface="IBM Plex Sans"/>
              <a:buNone/>
            </a:pPr>
            <a:r>
              <a:rPr i="0" lang="en-US" sz="1300" u="none" cap="none" strike="noStrike">
                <a:solidFill>
                  <a:srgbClr val="000000"/>
                </a:solidFill>
              </a:rPr>
              <a:t>DINESH, P. e LAKSHMANAN, R. Multiclass semantic segmentation for prime disease detection with severity level identification in Citrus plant leaves. </a:t>
            </a:r>
            <a:r>
              <a:rPr b="1" i="0" lang="en-US" sz="1300" u="none" cap="none" strike="noStrike">
                <a:solidFill>
                  <a:srgbClr val="000000"/>
                </a:solidFill>
              </a:rPr>
              <a:t>Scientific Reports</a:t>
            </a:r>
            <a:r>
              <a:rPr i="0" lang="en-US" sz="1300" u="none" cap="none" strike="noStrike">
                <a:solidFill>
                  <a:srgbClr val="000000"/>
                </a:solidFill>
              </a:rPr>
              <a:t>, v. 15, 21208, 2025. DOI: 10.1038/s41598-025-04758-y</a:t>
            </a:r>
            <a:endParaRPr i="0" sz="1300" u="none" cap="none" strike="noStrike"/>
          </a:p>
        </p:txBody>
      </p:sp>
      <p:sp>
        <p:nvSpPr>
          <p:cNvPr id="249" name="Google Shape;249;p10"/>
          <p:cNvSpPr/>
          <p:nvPr/>
        </p:nvSpPr>
        <p:spPr>
          <a:xfrm>
            <a:off x="812880" y="2727500"/>
            <a:ext cx="10883100" cy="454200"/>
          </a:xfrm>
          <a:prstGeom prst="rect">
            <a:avLst/>
          </a:prstGeom>
          <a:noFill/>
          <a:ln>
            <a:noFill/>
          </a:ln>
        </p:spPr>
        <p:txBody>
          <a:bodyPr anchorCtr="0" anchor="t" bIns="0" lIns="0" spcFirstLastPara="1" rIns="0" wrap="square" tIns="0">
            <a:normAutofit/>
          </a:bodyPr>
          <a:lstStyle/>
          <a:p>
            <a:pPr indent="0" lvl="0" marL="0" marR="0" rtl="0" algn="l">
              <a:lnSpc>
                <a:spcPct val="129923"/>
              </a:lnSpc>
              <a:spcBef>
                <a:spcPts val="0"/>
              </a:spcBef>
              <a:spcAft>
                <a:spcPts val="0"/>
              </a:spcAft>
              <a:buClr>
                <a:srgbClr val="000000"/>
              </a:buClr>
              <a:buSzPts val="1300"/>
              <a:buFont typeface="IBM Plex Sans"/>
              <a:buNone/>
            </a:pPr>
            <a:r>
              <a:rPr i="0" lang="en-US" sz="1300" u="none" cap="none" strike="noStrike">
                <a:solidFill>
                  <a:srgbClr val="000000"/>
                </a:solidFill>
              </a:rPr>
              <a:t>HASAN, M. M., HOSSAIN, M. S. e BISWAS, J. </a:t>
            </a:r>
            <a:r>
              <a:rPr b="1" i="0" lang="en-US" sz="1300" u="none" cap="none" strike="noStrike">
                <a:solidFill>
                  <a:srgbClr val="000000"/>
                </a:solidFill>
              </a:rPr>
              <a:t>A Rice Leaf Disease Image Dataset for Multi-Class Disease Classification</a:t>
            </a:r>
            <a:r>
              <a:rPr i="0" lang="en-US" sz="1300" u="none" cap="none" strike="noStrike">
                <a:solidFill>
                  <a:srgbClr val="000000"/>
                </a:solidFill>
              </a:rPr>
              <a:t>. Mendeley Data, v. 1, 2026. DOI: 10.17632/n8jpkpfz5p.1</a:t>
            </a:r>
            <a:endParaRPr i="0" sz="1300" u="none" cap="none" strike="noStrike"/>
          </a:p>
        </p:txBody>
      </p:sp>
      <p:sp>
        <p:nvSpPr>
          <p:cNvPr id="250" name="Google Shape;250;p10"/>
          <p:cNvSpPr/>
          <p:nvPr/>
        </p:nvSpPr>
        <p:spPr>
          <a:xfrm>
            <a:off x="812880" y="3271100"/>
            <a:ext cx="11379000" cy="239700"/>
          </a:xfrm>
          <a:prstGeom prst="rect">
            <a:avLst/>
          </a:prstGeom>
          <a:noFill/>
          <a:ln>
            <a:noFill/>
          </a:ln>
        </p:spPr>
        <p:txBody>
          <a:bodyPr anchorCtr="0" anchor="t" bIns="0" lIns="0" spcFirstLastPara="1" rIns="0" wrap="square" tIns="0">
            <a:normAutofit/>
          </a:bodyPr>
          <a:lstStyle/>
          <a:p>
            <a:pPr indent="0" lvl="0" marL="0" marR="0" rtl="0" algn="l">
              <a:lnSpc>
                <a:spcPct val="142772"/>
              </a:lnSpc>
              <a:spcBef>
                <a:spcPts val="0"/>
              </a:spcBef>
              <a:spcAft>
                <a:spcPts val="0"/>
              </a:spcAft>
              <a:buClr>
                <a:srgbClr val="000000"/>
              </a:buClr>
              <a:buSzPts val="1183"/>
              <a:buFont typeface="IBM Plex Sans"/>
              <a:buNone/>
            </a:pPr>
            <a:r>
              <a:rPr i="0" lang="en-US" sz="1183" u="none" cap="none" strike="noStrike">
                <a:solidFill>
                  <a:srgbClr val="000000"/>
                </a:solidFill>
              </a:rPr>
              <a:t>MA, J. et al. Loss odyssey in medical image segmentation. </a:t>
            </a:r>
            <a:r>
              <a:rPr b="1" i="0" lang="en-US" sz="1183" u="none" cap="none" strike="noStrike">
                <a:solidFill>
                  <a:srgbClr val="000000"/>
                </a:solidFill>
              </a:rPr>
              <a:t>Medical Image Analysis</a:t>
            </a:r>
            <a:r>
              <a:rPr i="0" lang="en-US" sz="1183" u="none" cap="none" strike="noStrike">
                <a:solidFill>
                  <a:srgbClr val="000000"/>
                </a:solidFill>
              </a:rPr>
              <a:t>, v. 71, 102035, 2021. DOI: 10.1016/j.media.2021.102035</a:t>
            </a:r>
            <a:endParaRPr i="0" sz="1183" u="none" cap="none" strike="noStrike"/>
          </a:p>
        </p:txBody>
      </p:sp>
      <p:sp>
        <p:nvSpPr>
          <p:cNvPr id="251" name="Google Shape;251;p10"/>
          <p:cNvSpPr/>
          <p:nvPr/>
        </p:nvSpPr>
        <p:spPr>
          <a:xfrm>
            <a:off x="812880" y="3599780"/>
            <a:ext cx="10883100" cy="454200"/>
          </a:xfrm>
          <a:prstGeom prst="rect">
            <a:avLst/>
          </a:prstGeom>
          <a:noFill/>
          <a:ln>
            <a:noFill/>
          </a:ln>
        </p:spPr>
        <p:txBody>
          <a:bodyPr anchorCtr="0" anchor="t" bIns="0" lIns="0" spcFirstLastPara="1" rIns="0" wrap="square" tIns="0">
            <a:normAutofit/>
          </a:bodyPr>
          <a:lstStyle/>
          <a:p>
            <a:pPr indent="0" lvl="0" marL="0" marR="0" rtl="0" algn="l">
              <a:lnSpc>
                <a:spcPct val="141220"/>
              </a:lnSpc>
              <a:spcBef>
                <a:spcPts val="0"/>
              </a:spcBef>
              <a:spcAft>
                <a:spcPts val="0"/>
              </a:spcAft>
              <a:buClr>
                <a:srgbClr val="000000"/>
              </a:buClr>
              <a:buSzPts val="1196"/>
              <a:buFont typeface="IBM Plex Sans"/>
              <a:buNone/>
            </a:pPr>
            <a:r>
              <a:rPr i="0" lang="en-US" sz="1196" u="none" cap="none" strike="noStrike">
                <a:solidFill>
                  <a:srgbClr val="000000"/>
                </a:solidFill>
              </a:rPr>
              <a:t>RONNEBERGER, O., FISCHER, P. e BROX, T. U-Net: Convolutional Networks for Biomedical Image Segmentation. In: </a:t>
            </a:r>
            <a:r>
              <a:rPr b="1" i="0" lang="en-US" sz="1196" u="none" cap="none" strike="noStrike">
                <a:solidFill>
                  <a:srgbClr val="000000"/>
                </a:solidFill>
              </a:rPr>
              <a:t>Medical Image Computing and Computer-Assisted Intervention – MICCAI 2015</a:t>
            </a:r>
            <a:r>
              <a:rPr i="0" lang="en-US" sz="1196" u="none" cap="none" strike="noStrike">
                <a:solidFill>
                  <a:srgbClr val="000000"/>
                </a:solidFill>
              </a:rPr>
              <a:t>. Cham: Springer, 2015. p. 234-241. DOI: 10.1007/978-3-319-24574-4_28</a:t>
            </a:r>
            <a:endParaRPr i="0" sz="1196" u="none" cap="none" strike="noStrike"/>
          </a:p>
        </p:txBody>
      </p:sp>
      <p:sp>
        <p:nvSpPr>
          <p:cNvPr id="252" name="Google Shape;252;p10"/>
          <p:cNvSpPr/>
          <p:nvPr/>
        </p:nvSpPr>
        <p:spPr>
          <a:xfrm>
            <a:off x="812880" y="4143380"/>
            <a:ext cx="10883100" cy="239700"/>
          </a:xfrm>
          <a:prstGeom prst="rect">
            <a:avLst/>
          </a:prstGeom>
          <a:noFill/>
          <a:ln>
            <a:noFill/>
          </a:ln>
        </p:spPr>
        <p:txBody>
          <a:bodyPr anchorCtr="0" anchor="t" bIns="0" lIns="0" spcFirstLastPara="1" rIns="0" wrap="square" tIns="0">
            <a:normAutofit/>
          </a:bodyPr>
          <a:lstStyle/>
          <a:p>
            <a:pPr indent="0" lvl="0" marL="0" marR="0" rtl="0" algn="l">
              <a:lnSpc>
                <a:spcPct val="129923"/>
              </a:lnSpc>
              <a:spcBef>
                <a:spcPts val="0"/>
              </a:spcBef>
              <a:spcAft>
                <a:spcPts val="0"/>
              </a:spcAft>
              <a:buClr>
                <a:srgbClr val="000000"/>
              </a:buClr>
              <a:buSzPts val="1300"/>
              <a:buFont typeface="IBM Plex Sans"/>
              <a:buNone/>
            </a:pPr>
            <a:r>
              <a:rPr i="0" lang="en-US" sz="1300" u="none" cap="none" strike="noStrike">
                <a:solidFill>
                  <a:srgbClr val="000000"/>
                </a:solidFill>
              </a:rPr>
              <a:t>SETHY, P. K. </a:t>
            </a:r>
            <a:r>
              <a:rPr b="1" i="0" lang="en-US" sz="1300" u="none" cap="none" strike="noStrike">
                <a:solidFill>
                  <a:srgbClr val="000000"/>
                </a:solidFill>
              </a:rPr>
              <a:t>Rice Leaf Disease Image Samples</a:t>
            </a:r>
            <a:r>
              <a:rPr i="0" lang="en-US" sz="1300" u="none" cap="none" strike="noStrike">
                <a:solidFill>
                  <a:srgbClr val="000000"/>
                </a:solidFill>
              </a:rPr>
              <a:t>. Mendeley Data, v. 1, 2020. DOI: 10.17632/fwcj7stb8r.1</a:t>
            </a:r>
            <a:endParaRPr i="0" sz="1300" u="none" cap="none" strike="noStrike"/>
          </a:p>
        </p:txBody>
      </p:sp>
      <p:sp>
        <p:nvSpPr>
          <p:cNvPr id="253" name="Google Shape;253;p10"/>
          <p:cNvSpPr/>
          <p:nvPr/>
        </p:nvSpPr>
        <p:spPr>
          <a:xfrm>
            <a:off x="812880" y="4472420"/>
            <a:ext cx="10883100" cy="454200"/>
          </a:xfrm>
          <a:prstGeom prst="rect">
            <a:avLst/>
          </a:prstGeom>
          <a:noFill/>
          <a:ln>
            <a:noFill/>
          </a:ln>
        </p:spPr>
        <p:txBody>
          <a:bodyPr anchorCtr="0" anchor="t" bIns="0" lIns="0" spcFirstLastPara="1" rIns="0" wrap="square" tIns="0">
            <a:normAutofit/>
          </a:bodyPr>
          <a:lstStyle/>
          <a:p>
            <a:pPr indent="0" lvl="0" marL="0" marR="0" rtl="0" algn="l">
              <a:lnSpc>
                <a:spcPct val="129923"/>
              </a:lnSpc>
              <a:spcBef>
                <a:spcPts val="0"/>
              </a:spcBef>
              <a:spcAft>
                <a:spcPts val="0"/>
              </a:spcAft>
              <a:buClr>
                <a:srgbClr val="000000"/>
              </a:buClr>
              <a:buSzPts val="1300"/>
              <a:buFont typeface="IBM Plex Sans"/>
              <a:buNone/>
            </a:pPr>
            <a:r>
              <a:rPr i="0" lang="en-US" sz="1300" u="none" cap="none" strike="noStrike">
                <a:solidFill>
                  <a:srgbClr val="000000"/>
                </a:solidFill>
              </a:rPr>
              <a:t>SETHY, P. K., BARPANDA, N. K., RATH, A. K. e BEHERA, S. K. Deep feature based rice leaf disease identification using support vector machine. </a:t>
            </a:r>
            <a:r>
              <a:rPr b="1" i="0" lang="en-US" sz="1300" u="none" cap="none" strike="noStrike">
                <a:solidFill>
                  <a:srgbClr val="000000"/>
                </a:solidFill>
              </a:rPr>
              <a:t>Computers and Electronics in Agriculture</a:t>
            </a:r>
            <a:r>
              <a:rPr i="0" lang="en-US" sz="1300" u="none" cap="none" strike="noStrike">
                <a:solidFill>
                  <a:srgbClr val="000000"/>
                </a:solidFill>
              </a:rPr>
              <a:t>, v. 175, 105527, 2020. DOI: 10.1016/j.compag.2020.105527</a:t>
            </a:r>
            <a:endParaRPr i="0" sz="1300" u="none" cap="none" strike="noStrike"/>
          </a:p>
        </p:txBody>
      </p:sp>
      <p:sp>
        <p:nvSpPr>
          <p:cNvPr id="254" name="Google Shape;254;p10"/>
          <p:cNvSpPr/>
          <p:nvPr/>
        </p:nvSpPr>
        <p:spPr>
          <a:xfrm>
            <a:off x="812880" y="5016020"/>
            <a:ext cx="10883100" cy="454200"/>
          </a:xfrm>
          <a:prstGeom prst="rect">
            <a:avLst/>
          </a:prstGeom>
          <a:noFill/>
          <a:ln>
            <a:noFill/>
          </a:ln>
        </p:spPr>
        <p:txBody>
          <a:bodyPr anchorCtr="0" anchor="t" bIns="0" lIns="0" spcFirstLastPara="1" rIns="0" wrap="square" tIns="0">
            <a:normAutofit/>
          </a:bodyPr>
          <a:lstStyle/>
          <a:p>
            <a:pPr indent="0" lvl="0" marL="0" marR="0" rtl="0" algn="l">
              <a:lnSpc>
                <a:spcPct val="129923"/>
              </a:lnSpc>
              <a:spcBef>
                <a:spcPts val="0"/>
              </a:spcBef>
              <a:spcAft>
                <a:spcPts val="0"/>
              </a:spcAft>
              <a:buClr>
                <a:srgbClr val="000000"/>
              </a:buClr>
              <a:buSzPts val="1300"/>
              <a:buFont typeface="IBM Plex Sans"/>
              <a:buNone/>
            </a:pPr>
            <a:r>
              <a:rPr i="0" lang="en-US" sz="1300" u="none" cap="none" strike="noStrike">
                <a:solidFill>
                  <a:srgbClr val="000000"/>
                </a:solidFill>
              </a:rPr>
              <a:t>ZINSOU, K. M. S. e HOUNDJI, V. R. </a:t>
            </a:r>
            <a:r>
              <a:rPr b="1" i="0" lang="en-US" sz="1300" u="none" cap="none" strike="noStrike">
                <a:solidFill>
                  <a:srgbClr val="000000"/>
                </a:solidFill>
              </a:rPr>
              <a:t>RiceSeg-5932: Complete Pixel-Level Segmentation Masks for Rice Leaf Disease Images Samples</a:t>
            </a:r>
            <a:r>
              <a:rPr i="0" lang="en-US" sz="1300" u="none" cap="none" strike="noStrike">
                <a:solidFill>
                  <a:srgbClr val="000000"/>
                </a:solidFill>
              </a:rPr>
              <a:t>. Mendeley Data, v. 1, 2025. DOI: 10.17632/92jc6w6mcy.1</a:t>
            </a:r>
            <a:endParaRPr i="0" sz="13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04040"/>
      </a:dk2>
      <a:lt2>
        <a:srgbClr val="E6E6E6"/>
      </a:lt2>
      <a:accent1>
        <a:srgbClr val="9AA0A6"/>
      </a:accent1>
      <a:accent2>
        <a:srgbClr val="666666"/>
      </a:accent2>
      <a:accent3>
        <a:srgbClr val="8C8C8C"/>
      </a:accent3>
      <a:accent4>
        <a:srgbClr val="B3B3B3"/>
      </a:accent4>
      <a:accent5>
        <a:srgbClr val="CCCCCC"/>
      </a:accent5>
      <a:accent6>
        <a:srgbClr val="26262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04040"/>
      </a:dk2>
      <a:lt2>
        <a:srgbClr val="E6E6E6"/>
      </a:lt2>
      <a:accent1>
        <a:srgbClr val="9AA0A6"/>
      </a:accent1>
      <a:accent2>
        <a:srgbClr val="666666"/>
      </a:accent2>
      <a:accent3>
        <a:srgbClr val="8C8C8C"/>
      </a:accent3>
      <a:accent4>
        <a:srgbClr val="B3B3B3"/>
      </a:accent4>
      <a:accent5>
        <a:srgbClr val="CCCCCC"/>
      </a:accent5>
      <a:accent6>
        <a:srgbClr val="26262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2026-10-26T17:15:21Z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